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889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2e4c52be5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g3b2e4c52be5_0_2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2e4c52be5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g3b2e4c52be5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2e4c52be5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b2e4c52be5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2e4c52be5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g3b2e4c52be5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2e4c52be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g3b2e4c52be5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b2e4c52be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b2e4c52be5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b2e4c52be5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g3b2e4c52be5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b2e4c52be5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b2e4c52be5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b2e4c52be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b2e4c52be5_0_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2e4c52be5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b2e4c52be5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2e4c52be5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b2e4c52be5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2e4c52be5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b2e4c52be5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b2e4c52be5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b2e4c52be5_0_1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2e4c52be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b2e4c52be5_0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2e4c52be5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b2e4c52be5_0_2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b2e4c52be5_0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g3b2e4c52be5_0_2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b2e4c52be5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g3b2e4c52be5_0_2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b2e4c52be5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b2e4c52be5_0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b2e4c52be5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b2e4c52be5_0_2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b2e4c52be5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b2e4c52be5_0_5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spcBef>
                <a:spcPts val="0"/>
              </a:spcBef>
              <a:buNone/>
              <a:defRPr b="0" i="0" sz="1200" u="none" cap="none" strike="noStrike">
                <a:solidFill>
                  <a:srgbClr val="888888"/>
                </a:solidFill>
                <a:latin typeface="Calibri"/>
                <a:ea typeface="Calibri"/>
                <a:cs typeface="Calibri"/>
                <a:sym typeface="Calibri"/>
              </a:defRPr>
            </a:lvl1pPr>
            <a:lvl2pPr indent="0" lvl="1" marL="0" marR="0" algn="r">
              <a:spcBef>
                <a:spcPts val="0"/>
              </a:spcBef>
              <a:buNone/>
              <a:defRPr b="0" i="0" sz="1200" u="none" cap="none" strike="noStrike">
                <a:solidFill>
                  <a:srgbClr val="888888"/>
                </a:solidFill>
                <a:latin typeface="Calibri"/>
                <a:ea typeface="Calibri"/>
                <a:cs typeface="Calibri"/>
                <a:sym typeface="Calibri"/>
              </a:defRPr>
            </a:lvl2pPr>
            <a:lvl3pPr indent="0" lvl="2" marL="0" marR="0" algn="r">
              <a:spcBef>
                <a:spcPts val="0"/>
              </a:spcBef>
              <a:buNone/>
              <a:defRPr b="0" i="0" sz="1200" u="none" cap="none" strike="noStrike">
                <a:solidFill>
                  <a:srgbClr val="888888"/>
                </a:solidFill>
                <a:latin typeface="Calibri"/>
                <a:ea typeface="Calibri"/>
                <a:cs typeface="Calibri"/>
                <a:sym typeface="Calibri"/>
              </a:defRPr>
            </a:lvl3pPr>
            <a:lvl4pPr indent="0" lvl="3" marL="0" marR="0" algn="r">
              <a:spcBef>
                <a:spcPts val="0"/>
              </a:spcBef>
              <a:buNone/>
              <a:defRPr b="0" i="0" sz="1200" u="none" cap="none" strike="noStrike">
                <a:solidFill>
                  <a:srgbClr val="888888"/>
                </a:solidFill>
                <a:latin typeface="Calibri"/>
                <a:ea typeface="Calibri"/>
                <a:cs typeface="Calibri"/>
                <a:sym typeface="Calibri"/>
              </a:defRPr>
            </a:lvl4pPr>
            <a:lvl5pPr indent="0" lvl="4" marL="0" marR="0" algn="r">
              <a:spcBef>
                <a:spcPts val="0"/>
              </a:spcBef>
              <a:buNone/>
              <a:defRPr b="0" i="0" sz="1200" u="none" cap="none" strike="noStrike">
                <a:solidFill>
                  <a:srgbClr val="888888"/>
                </a:solidFill>
                <a:latin typeface="Calibri"/>
                <a:ea typeface="Calibri"/>
                <a:cs typeface="Calibri"/>
                <a:sym typeface="Calibri"/>
              </a:defRPr>
            </a:lvl5pPr>
            <a:lvl6pPr indent="0" lvl="5" marL="0" marR="0" algn="r">
              <a:spcBef>
                <a:spcPts val="0"/>
              </a:spcBef>
              <a:buNone/>
              <a:defRPr b="0" i="0" sz="1200" u="none" cap="none" strike="noStrike">
                <a:solidFill>
                  <a:srgbClr val="888888"/>
                </a:solidFill>
                <a:latin typeface="Calibri"/>
                <a:ea typeface="Calibri"/>
                <a:cs typeface="Calibri"/>
                <a:sym typeface="Calibri"/>
              </a:defRPr>
            </a:lvl6pPr>
            <a:lvl7pPr indent="0" lvl="6" marL="0" marR="0" algn="r">
              <a:spcBef>
                <a:spcPts val="0"/>
              </a:spcBef>
              <a:buNone/>
              <a:defRPr b="0" i="0" sz="1200" u="none" cap="none" strike="noStrike">
                <a:solidFill>
                  <a:srgbClr val="888888"/>
                </a:solidFill>
                <a:latin typeface="Calibri"/>
                <a:ea typeface="Calibri"/>
                <a:cs typeface="Calibri"/>
                <a:sym typeface="Calibri"/>
              </a:defRPr>
            </a:lvl7pPr>
            <a:lvl8pPr indent="0" lvl="7" marL="0" marR="0" algn="r">
              <a:spcBef>
                <a:spcPts val="0"/>
              </a:spcBef>
              <a:buNone/>
              <a:defRPr b="0" i="0" sz="1200" u="none" cap="none" strike="noStrike">
                <a:solidFill>
                  <a:srgbClr val="888888"/>
                </a:solidFill>
                <a:latin typeface="Calibri"/>
                <a:ea typeface="Calibri"/>
                <a:cs typeface="Calibri"/>
                <a:sym typeface="Calibri"/>
              </a:defRPr>
            </a:lvl8pPr>
            <a:lvl9pPr indent="0" lvl="8" marL="0" marR="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hyperlink" Target="http://learncpp.com" TargetMode="External"/><Relationship Id="rId4" Type="http://schemas.openxmlformats.org/officeDocument/2006/relationships/hyperlink" Target="http://cppreference.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0"/>
            <a:ext cx="7772400" cy="6858000"/>
          </a:xfrm>
          <a:prstGeom prst="rect">
            <a:avLst/>
          </a:prstGeom>
          <a:solidFill>
            <a:srgbClr val="081B30"/>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p:nvPr/>
        </p:nvSpPr>
        <p:spPr>
          <a:xfrm>
            <a:off x="7772400" y="0"/>
            <a:ext cx="4416552" cy="6858000"/>
          </a:xfrm>
          <a:prstGeom prst="rect">
            <a:avLst/>
          </a:prstGeom>
          <a:solidFill>
            <a:srgbClr val="040B19"/>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548640" y="548640"/>
            <a:ext cx="10515600" cy="80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600">
                <a:solidFill>
                  <a:srgbClr val="DCE1E6"/>
                </a:solidFill>
                <a:latin typeface="Calibri"/>
                <a:ea typeface="Calibri"/>
                <a:cs typeface="Calibri"/>
                <a:sym typeface="Calibri"/>
              </a:rPr>
              <a:t>Въведение в ООП</a:t>
            </a:r>
            <a:endParaRPr/>
          </a:p>
        </p:txBody>
      </p:sp>
      <p:sp>
        <p:nvSpPr>
          <p:cNvPr id="87" name="Google Shape;87;p13"/>
          <p:cNvSpPr txBox="1"/>
          <p:nvPr/>
        </p:nvSpPr>
        <p:spPr>
          <a:xfrm>
            <a:off x="548650" y="1554471"/>
            <a:ext cx="10515600" cy="415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100">
                <a:solidFill>
                  <a:srgbClr val="00B4D7"/>
                </a:solidFill>
                <a:latin typeface="Calibri"/>
                <a:ea typeface="Calibri"/>
                <a:cs typeface="Calibri"/>
                <a:sym typeface="Calibri"/>
              </a:rPr>
              <a:t>титуляр на курса: д-р Тодор Цонков </a:t>
            </a:r>
            <a:r>
              <a:rPr lang="en-US" sz="2100">
                <a:solidFill>
                  <a:srgbClr val="00B4D7"/>
                </a:solidFill>
                <a:latin typeface="Calibri"/>
                <a:ea typeface="Calibri"/>
                <a:cs typeface="Calibri"/>
                <a:sym typeface="Calibri"/>
              </a:rPr>
              <a:t>(ttsonkov@gmail.com)</a:t>
            </a:r>
            <a:endParaRPr sz="1900"/>
          </a:p>
        </p:txBody>
      </p:sp>
      <p:sp>
        <p:nvSpPr>
          <p:cNvPr id="88" name="Google Shape;88;p13"/>
          <p:cNvSpPr/>
          <p:nvPr/>
        </p:nvSpPr>
        <p:spPr>
          <a:xfrm>
            <a:off x="8517633" y="299183"/>
            <a:ext cx="2926200" cy="2926200"/>
          </a:xfrm>
          <a:prstGeom prst="ellipse">
            <a:avLst/>
          </a:prstGeom>
          <a:solidFill>
            <a:srgbClr val="00B4D7"/>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Бакалавър комп.науки ФМИ,</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Магистър изкуствен интелект ФМИ,</a:t>
            </a:r>
            <a:endParaRPr sz="1800">
              <a:solidFill>
                <a:schemeClr val="dk1"/>
              </a:solidFill>
              <a:latin typeface="Calibri"/>
              <a:ea typeface="Calibri"/>
              <a:cs typeface="Calibri"/>
              <a:sym typeface="Calibri"/>
            </a:endParaRPr>
          </a:p>
          <a:p>
            <a:pPr indent="0" lvl="0" marL="0" marR="0" rtl="0" algn="ctr">
              <a:spcBef>
                <a:spcPts val="0"/>
              </a:spcBef>
              <a:spcAft>
                <a:spcPts val="0"/>
              </a:spcAft>
              <a:buNone/>
            </a:pPr>
            <a:r>
              <a:rPr lang="en-US" sz="1800">
                <a:solidFill>
                  <a:schemeClr val="dk1"/>
                </a:solidFill>
                <a:latin typeface="Calibri"/>
                <a:ea typeface="Calibri"/>
                <a:cs typeface="Calibri"/>
                <a:sym typeface="Calibri"/>
              </a:rPr>
              <a:t>Доктор изкуствен интелект ФМИ</a:t>
            </a:r>
            <a:endParaRPr sz="1800">
              <a:solidFill>
                <a:schemeClr val="dk1"/>
              </a:solidFill>
              <a:latin typeface="Calibri"/>
              <a:ea typeface="Calibri"/>
              <a:cs typeface="Calibri"/>
              <a:sym typeface="Calibri"/>
            </a:endParaRPr>
          </a:p>
        </p:txBody>
      </p:sp>
      <p:sp>
        <p:nvSpPr>
          <p:cNvPr id="89" name="Google Shape;89;p13"/>
          <p:cNvSpPr/>
          <p:nvPr/>
        </p:nvSpPr>
        <p:spPr>
          <a:xfrm>
            <a:off x="9066335" y="3720250"/>
            <a:ext cx="1828800" cy="1828800"/>
          </a:xfrm>
          <a:prstGeom prst="ellipse">
            <a:avLst/>
          </a:prstGeom>
          <a:solidFill>
            <a:srgbClr val="FF8C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Arial"/>
              <a:buNone/>
            </a:pPr>
            <a:r>
              <a:rPr lang="en-US" sz="1800">
                <a:solidFill>
                  <a:schemeClr val="dk1"/>
                </a:solidFill>
                <a:latin typeface="Calibri"/>
                <a:ea typeface="Calibri"/>
                <a:cs typeface="Calibri"/>
                <a:sym typeface="Calibri"/>
              </a:rPr>
              <a:t>20 години опит със С++</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93" name="Shape 93"/>
        <p:cNvGrpSpPr/>
        <p:nvPr/>
      </p:nvGrpSpPr>
      <p:grpSpPr>
        <a:xfrm>
          <a:off x="0" y="0"/>
          <a:ext cx="0" cy="0"/>
          <a:chOff x="0" y="0"/>
          <a:chExt cx="0" cy="0"/>
        </a:xfrm>
      </p:grpSpPr>
      <p:sp>
        <p:nvSpPr>
          <p:cNvPr id="94" name="Google Shape;94;p14"/>
          <p:cNvSpPr txBox="1"/>
          <p:nvPr/>
        </p:nvSpPr>
        <p:spPr>
          <a:xfrm>
            <a:off x="640080" y="1280160"/>
            <a:ext cx="10881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B4D7"/>
                </a:solidFill>
                <a:latin typeface="Calibri"/>
                <a:ea typeface="Calibri"/>
                <a:cs typeface="Calibri"/>
                <a:sym typeface="Calibri"/>
              </a:rPr>
              <a:t>От какво ще се състои настоящата лекция?</a:t>
            </a:r>
            <a:endParaRPr/>
          </a:p>
        </p:txBody>
      </p:sp>
      <p:sp>
        <p:nvSpPr>
          <p:cNvPr id="95" name="Google Shape;95;p14"/>
          <p:cNvSpPr txBox="1"/>
          <p:nvPr/>
        </p:nvSpPr>
        <p:spPr>
          <a:xfrm>
            <a:off x="640080" y="2011680"/>
            <a:ext cx="10881300" cy="1754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DCE1E6"/>
                </a:solidFill>
                <a:latin typeface="Calibri"/>
                <a:ea typeface="Calibri"/>
                <a:cs typeface="Calibri"/>
                <a:sym typeface="Calibri"/>
              </a:rPr>
              <a:t>Преговор на указатели, референции и видове памет в езика C++. Подаване по стойност/референция. Процедурен стил vs OOP - какво подобрява ООП. Основни принципи в ООП. Класове и обекти на високо ниво. Структури в езика С++. Сравнение на основните принципи с Java. Примери.</a:t>
            </a:r>
            <a:endParaRPr sz="20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99" name="Shape 99"/>
        <p:cNvGrpSpPr/>
        <p:nvPr/>
      </p:nvGrpSpPr>
      <p:grpSpPr>
        <a:xfrm>
          <a:off x="0" y="0"/>
          <a:ext cx="0" cy="0"/>
          <a:chOff x="0" y="0"/>
          <a:chExt cx="0" cy="0"/>
        </a:xfrm>
      </p:grpSpPr>
      <p:sp>
        <p:nvSpPr>
          <p:cNvPr id="100" name="Google Shape;100;p15"/>
          <p:cNvSpPr txBox="1"/>
          <p:nvPr/>
        </p:nvSpPr>
        <p:spPr>
          <a:xfrm>
            <a:off x="640080" y="1280160"/>
            <a:ext cx="10881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B4D7"/>
                </a:solidFill>
                <a:latin typeface="Calibri"/>
                <a:ea typeface="Calibri"/>
                <a:cs typeface="Calibri"/>
                <a:sym typeface="Calibri"/>
              </a:rPr>
              <a:t>Материали за курса</a:t>
            </a:r>
            <a:endParaRPr/>
          </a:p>
        </p:txBody>
      </p:sp>
      <p:sp>
        <p:nvSpPr>
          <p:cNvPr id="101" name="Google Shape;101;p15"/>
          <p:cNvSpPr txBox="1"/>
          <p:nvPr/>
        </p:nvSpPr>
        <p:spPr>
          <a:xfrm>
            <a:off x="640080" y="2011680"/>
            <a:ext cx="10881300" cy="20625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0"/>
              </a:spcBef>
              <a:spcAft>
                <a:spcPts val="0"/>
              </a:spcAft>
              <a:buClr>
                <a:srgbClr val="DCE1E6"/>
              </a:buClr>
              <a:buSzPts val="2000"/>
              <a:buFont typeface="Calibri"/>
              <a:buChar char="●"/>
            </a:pPr>
            <a:r>
              <a:rPr lang="en-US" sz="2000" u="sng">
                <a:solidFill>
                  <a:schemeClr val="hlink"/>
                </a:solidFill>
                <a:latin typeface="Calibri"/>
                <a:ea typeface="Calibri"/>
                <a:cs typeface="Calibri"/>
                <a:sym typeface="Calibri"/>
                <a:hlinkClick r:id="rId3"/>
              </a:rPr>
              <a:t>learncpp.com</a:t>
            </a:r>
            <a:endParaRPr sz="2000">
              <a:solidFill>
                <a:srgbClr val="DCE1E6"/>
              </a:solidFill>
              <a:latin typeface="Calibri"/>
              <a:ea typeface="Calibri"/>
              <a:cs typeface="Calibri"/>
              <a:sym typeface="Calibri"/>
            </a:endParaRPr>
          </a:p>
          <a:p>
            <a:pPr indent="-355600" lvl="0" marL="457200" marR="0" rtl="0" algn="l">
              <a:spcBef>
                <a:spcPts val="0"/>
              </a:spcBef>
              <a:spcAft>
                <a:spcPts val="0"/>
              </a:spcAft>
              <a:buClr>
                <a:srgbClr val="DCE1E6"/>
              </a:buClr>
              <a:buSzPts val="2000"/>
              <a:buFont typeface="Calibri"/>
              <a:buChar char="●"/>
            </a:pPr>
            <a:r>
              <a:rPr lang="en-US" sz="2000" u="sng">
                <a:solidFill>
                  <a:schemeClr val="hlink"/>
                </a:solidFill>
                <a:latin typeface="Calibri"/>
                <a:ea typeface="Calibri"/>
                <a:cs typeface="Calibri"/>
                <a:sym typeface="Calibri"/>
                <a:hlinkClick r:id="rId4"/>
              </a:rPr>
              <a:t>cppreference.com</a:t>
            </a:r>
            <a:endParaRPr sz="2000">
              <a:solidFill>
                <a:srgbClr val="DCE1E6"/>
              </a:solidFill>
              <a:latin typeface="Calibri"/>
              <a:ea typeface="Calibri"/>
              <a:cs typeface="Calibri"/>
              <a:sym typeface="Calibri"/>
            </a:endParaRPr>
          </a:p>
          <a:p>
            <a:pPr indent="-355600" lvl="0" marL="457200" marR="0" rtl="0" algn="l">
              <a:spcBef>
                <a:spcPts val="0"/>
              </a:spcBef>
              <a:spcAft>
                <a:spcPts val="0"/>
              </a:spcAft>
              <a:buClr>
                <a:srgbClr val="DCE1E6"/>
              </a:buClr>
              <a:buSzPts val="2000"/>
              <a:buFont typeface="Calibri"/>
              <a:buChar char="●"/>
            </a:pPr>
            <a:r>
              <a:rPr lang="en-US" sz="2000">
                <a:solidFill>
                  <a:srgbClr val="DCE1E6"/>
                </a:solidFill>
                <a:latin typeface="Calibri"/>
                <a:ea typeface="Calibri"/>
                <a:cs typeface="Calibri"/>
                <a:sym typeface="Calibri"/>
              </a:rPr>
              <a:t>C++ primer -  Barbara E. Moo, Josée Lajoie, and Stanley B. Lippman</a:t>
            </a:r>
            <a:endParaRPr sz="2000">
              <a:solidFill>
                <a:srgbClr val="DCE1E6"/>
              </a:solidFill>
              <a:latin typeface="Calibri"/>
              <a:ea typeface="Calibri"/>
              <a:cs typeface="Calibri"/>
              <a:sym typeface="Calibri"/>
            </a:endParaRPr>
          </a:p>
          <a:p>
            <a:pPr indent="-355600" lvl="0" marL="457200" marR="0" rtl="0" algn="l">
              <a:spcBef>
                <a:spcPts val="0"/>
              </a:spcBef>
              <a:spcAft>
                <a:spcPts val="0"/>
              </a:spcAft>
              <a:buClr>
                <a:srgbClr val="DCE1E6"/>
              </a:buClr>
              <a:buSzPts val="2000"/>
              <a:buFont typeface="Calibri"/>
              <a:buChar char="●"/>
            </a:pPr>
            <a:r>
              <a:rPr lang="en-US" sz="2000">
                <a:solidFill>
                  <a:srgbClr val="DCE1E6"/>
                </a:solidFill>
                <a:latin typeface="Calibri"/>
                <a:ea typeface="Calibri"/>
                <a:cs typeface="Calibri"/>
                <a:sym typeface="Calibri"/>
              </a:rPr>
              <a:t>The C++ Programming Language pdf - Bjarne Stroustrup</a:t>
            </a:r>
            <a:endParaRPr sz="2000">
              <a:solidFill>
                <a:srgbClr val="DCE1E6"/>
              </a:solidFill>
              <a:latin typeface="Calibri"/>
              <a:ea typeface="Calibri"/>
              <a:cs typeface="Calibri"/>
              <a:sym typeface="Calibri"/>
            </a:endParaRPr>
          </a:p>
          <a:p>
            <a:pPr indent="-355600" lvl="0" marL="457200" marR="0" rtl="0" algn="l">
              <a:spcBef>
                <a:spcPts val="0"/>
              </a:spcBef>
              <a:spcAft>
                <a:spcPts val="0"/>
              </a:spcAft>
              <a:buClr>
                <a:srgbClr val="DCE1E6"/>
              </a:buClr>
              <a:buSzPts val="2000"/>
              <a:buFont typeface="Calibri"/>
              <a:buChar char="●"/>
            </a:pPr>
            <a:r>
              <a:rPr lang="en-US" sz="2000">
                <a:solidFill>
                  <a:srgbClr val="DCE1E6"/>
                </a:solidFill>
                <a:latin typeface="Calibri"/>
                <a:ea typeface="Calibri"/>
                <a:cs typeface="Calibri"/>
                <a:sym typeface="Calibri"/>
              </a:rPr>
              <a:t>Youtube: The Cherno, Mike Shah</a:t>
            </a:r>
            <a:endParaRPr sz="20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105" name="Shape 105"/>
        <p:cNvGrpSpPr/>
        <p:nvPr/>
      </p:nvGrpSpPr>
      <p:grpSpPr>
        <a:xfrm>
          <a:off x="0" y="0"/>
          <a:ext cx="0" cy="0"/>
          <a:chOff x="0" y="0"/>
          <a:chExt cx="0" cy="0"/>
        </a:xfrm>
      </p:grpSpPr>
      <p:sp>
        <p:nvSpPr>
          <p:cNvPr id="106" name="Google Shape;106;p16"/>
          <p:cNvSpPr txBox="1"/>
          <p:nvPr/>
        </p:nvSpPr>
        <p:spPr>
          <a:xfrm>
            <a:off x="640080" y="1280160"/>
            <a:ext cx="10881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B4D7"/>
                </a:solidFill>
                <a:latin typeface="Calibri"/>
                <a:ea typeface="Calibri"/>
                <a:cs typeface="Calibri"/>
                <a:sym typeface="Calibri"/>
              </a:rPr>
              <a:t>Оценяване</a:t>
            </a:r>
            <a:endParaRPr/>
          </a:p>
        </p:txBody>
      </p:sp>
      <p:sp>
        <p:nvSpPr>
          <p:cNvPr id="107" name="Google Shape;107;p16"/>
          <p:cNvSpPr txBox="1"/>
          <p:nvPr/>
        </p:nvSpPr>
        <p:spPr>
          <a:xfrm>
            <a:off x="640075" y="2011679"/>
            <a:ext cx="10881300" cy="1231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000">
                <a:solidFill>
                  <a:srgbClr val="DCE1E6"/>
                </a:solidFill>
                <a:latin typeface="Calibri"/>
                <a:ea typeface="Calibri"/>
                <a:cs typeface="Calibri"/>
                <a:sym typeface="Calibri"/>
              </a:rPr>
              <a:t>1) Две контролни по време на лекции - 8ма и 15та лекция</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2) Оценка от асистента по време на упражнения</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3) Изпит - събеседване с титуляра на курса и поставяне на финална оценка</a:t>
            </a:r>
            <a:endParaRPr sz="2000">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111" name="Shape 111"/>
        <p:cNvGrpSpPr/>
        <p:nvPr/>
      </p:nvGrpSpPr>
      <p:grpSpPr>
        <a:xfrm>
          <a:off x="0" y="0"/>
          <a:ext cx="0" cy="0"/>
          <a:chOff x="0" y="0"/>
          <a:chExt cx="0" cy="0"/>
        </a:xfrm>
      </p:grpSpPr>
      <p:sp>
        <p:nvSpPr>
          <p:cNvPr id="112" name="Google Shape;112;p17"/>
          <p:cNvSpPr txBox="1"/>
          <p:nvPr/>
        </p:nvSpPr>
        <p:spPr>
          <a:xfrm>
            <a:off x="640080" y="1280160"/>
            <a:ext cx="10881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B4D7"/>
                </a:solidFill>
                <a:latin typeface="Calibri"/>
                <a:ea typeface="Calibri"/>
                <a:cs typeface="Calibri"/>
                <a:sym typeface="Calibri"/>
              </a:rPr>
              <a:t>Преговор: Указатели</a:t>
            </a:r>
            <a:endParaRPr/>
          </a:p>
        </p:txBody>
      </p:sp>
      <p:sp>
        <p:nvSpPr>
          <p:cNvPr id="113" name="Google Shape;113;p17"/>
          <p:cNvSpPr txBox="1"/>
          <p:nvPr/>
        </p:nvSpPr>
        <p:spPr>
          <a:xfrm>
            <a:off x="640075" y="2011679"/>
            <a:ext cx="10881300" cy="2770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000">
                <a:solidFill>
                  <a:srgbClr val="DCE1E6"/>
                </a:solidFill>
                <a:latin typeface="Calibri"/>
                <a:ea typeface="Calibri"/>
                <a:cs typeface="Calibri"/>
                <a:sym typeface="Calibri"/>
              </a:rPr>
              <a:t>•  Променливи, съхраняващи адрес в паметта</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a:t>
            </a:r>
            <a:r>
              <a:rPr lang="en-US" sz="2000">
                <a:solidFill>
                  <a:srgbClr val="DCE1E6"/>
                </a:solidFill>
                <a:latin typeface="Calibri"/>
                <a:ea typeface="Calibri"/>
                <a:cs typeface="Calibri"/>
                <a:sym typeface="Calibri"/>
              </a:rPr>
              <a:t> Оператор &amp; (Address-of): Взема адреса на променлива</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a:t>
            </a:r>
            <a:r>
              <a:rPr lang="en-US" sz="2000">
                <a:solidFill>
                  <a:srgbClr val="DCE1E6"/>
                </a:solidFill>
                <a:latin typeface="Calibri"/>
                <a:ea typeface="Calibri"/>
                <a:cs typeface="Calibri"/>
                <a:sym typeface="Calibri"/>
              </a:rPr>
              <a:t> Оператор * (Dereference): Достъп до стойността на адреса.</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a:t>
            </a:r>
            <a:r>
              <a:rPr lang="en-US" sz="2000">
                <a:solidFill>
                  <a:srgbClr val="DCE1E6"/>
                </a:solidFill>
                <a:latin typeface="Calibri"/>
                <a:ea typeface="Calibri"/>
                <a:cs typeface="Calibri"/>
                <a:sym typeface="Calibri"/>
              </a:rPr>
              <a:t> Пример: int* ptr = &amp;var;</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a:t>
            </a:r>
            <a:r>
              <a:rPr lang="en-US" sz="2000">
                <a:solidFill>
                  <a:srgbClr val="DCE1E6"/>
                </a:solidFill>
                <a:latin typeface="Calibri"/>
                <a:ea typeface="Calibri"/>
                <a:cs typeface="Calibri"/>
                <a:sym typeface="Calibri"/>
              </a:rPr>
              <a:t> Указателите могат да бъдат nullptr (неинициализирани), да сменят променливата, към която сочат.</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a:t>
            </a:r>
            <a:r>
              <a:rPr lang="en-US" sz="2000">
                <a:solidFill>
                  <a:srgbClr val="DCE1E6"/>
                </a:solidFill>
                <a:latin typeface="Calibri"/>
                <a:ea typeface="Calibri"/>
                <a:cs typeface="Calibri"/>
                <a:sym typeface="Calibri"/>
              </a:rPr>
              <a:t> Указателите може да се ползват за опционални данни(или ги има, или не), но в модерен С++ се ползва std::optional </a:t>
            </a:r>
            <a:endParaRPr sz="2000">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117" name="Shape 117"/>
        <p:cNvGrpSpPr/>
        <p:nvPr/>
      </p:nvGrpSpPr>
      <p:grpSpPr>
        <a:xfrm>
          <a:off x="0" y="0"/>
          <a:ext cx="0" cy="0"/>
          <a:chOff x="0" y="0"/>
          <a:chExt cx="0" cy="0"/>
        </a:xfrm>
      </p:grpSpPr>
      <p:sp>
        <p:nvSpPr>
          <p:cNvPr id="118" name="Google Shape;118;p18"/>
          <p:cNvSpPr txBox="1"/>
          <p:nvPr/>
        </p:nvSpPr>
        <p:spPr>
          <a:xfrm>
            <a:off x="640080" y="1280160"/>
            <a:ext cx="10881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B4D7"/>
                </a:solidFill>
                <a:latin typeface="Calibri"/>
                <a:ea typeface="Calibri"/>
                <a:cs typeface="Calibri"/>
                <a:sym typeface="Calibri"/>
              </a:rPr>
              <a:t>Преговор: Референции</a:t>
            </a:r>
            <a:endParaRPr/>
          </a:p>
        </p:txBody>
      </p:sp>
      <p:sp>
        <p:nvSpPr>
          <p:cNvPr id="119" name="Google Shape;119;p18"/>
          <p:cNvSpPr txBox="1"/>
          <p:nvPr/>
        </p:nvSpPr>
        <p:spPr>
          <a:xfrm>
            <a:off x="640075" y="2011679"/>
            <a:ext cx="10881300" cy="153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2000">
                <a:solidFill>
                  <a:srgbClr val="DCE1E6"/>
                </a:solidFill>
                <a:latin typeface="Calibri"/>
                <a:ea typeface="Calibri"/>
                <a:cs typeface="Calibri"/>
                <a:sym typeface="Calibri"/>
              </a:rPr>
              <a:t>• Псевдоним (Alias) на съществуваща променлива.</a:t>
            </a:r>
            <a:endParaRPr sz="20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rgbClr val="DCE1E6"/>
                </a:solidFill>
                <a:latin typeface="Calibri"/>
                <a:ea typeface="Calibri"/>
                <a:cs typeface="Calibri"/>
                <a:sym typeface="Calibri"/>
              </a:rPr>
              <a:t>• Задължително се инициират при създаване.</a:t>
            </a:r>
            <a:endParaRPr sz="20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000">
                <a:solidFill>
                  <a:srgbClr val="DCE1E6"/>
                </a:solidFill>
                <a:latin typeface="Calibri"/>
                <a:ea typeface="Calibri"/>
                <a:cs typeface="Calibri"/>
                <a:sym typeface="Calibri"/>
              </a:rPr>
              <a:t>• Синтаксис: int &amp;ref = x;</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По-сигурни от указателите (не могат да бъдат NULL).</a:t>
            </a:r>
            <a:endParaRPr sz="2000">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123" name="Shape 123"/>
        <p:cNvGrpSpPr/>
        <p:nvPr/>
      </p:nvGrpSpPr>
      <p:grpSpPr>
        <a:xfrm>
          <a:off x="0" y="0"/>
          <a:ext cx="0" cy="0"/>
          <a:chOff x="0" y="0"/>
          <a:chExt cx="0" cy="0"/>
        </a:xfrm>
      </p:grpSpPr>
      <p:sp>
        <p:nvSpPr>
          <p:cNvPr id="124" name="Google Shape;124;p19"/>
          <p:cNvSpPr txBox="1"/>
          <p:nvPr/>
        </p:nvSpPr>
        <p:spPr>
          <a:xfrm>
            <a:off x="640080" y="1280160"/>
            <a:ext cx="10881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B4D7"/>
                </a:solidFill>
                <a:latin typeface="Calibri"/>
                <a:ea typeface="Calibri"/>
                <a:cs typeface="Calibri"/>
                <a:sym typeface="Calibri"/>
              </a:rPr>
              <a:t>Видове памет - Stack vs Heap</a:t>
            </a:r>
            <a:endParaRPr/>
          </a:p>
        </p:txBody>
      </p:sp>
      <p:sp>
        <p:nvSpPr>
          <p:cNvPr id="125" name="Google Shape;125;p19"/>
          <p:cNvSpPr txBox="1"/>
          <p:nvPr/>
        </p:nvSpPr>
        <p:spPr>
          <a:xfrm>
            <a:off x="640075" y="2011679"/>
            <a:ext cx="10881300" cy="4617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2000">
                <a:solidFill>
                  <a:srgbClr val="DCE1E6"/>
                </a:solidFill>
                <a:latin typeface="Calibri"/>
                <a:ea typeface="Calibri"/>
                <a:cs typeface="Calibri"/>
                <a:sym typeface="Calibri"/>
              </a:rPr>
              <a:t>• Stack: Локални променливи, бърза, автоматично управление.</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Количеството заделена памет е определена по време на компилация;</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Последно заделената памет се освобождава първа (First in Last out);</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Заделя се в момента на дефиниция на променливите и се освобождава в момента на изход от scope-a, в която е дефинирана;</a:t>
            </a:r>
            <a:endParaRPr sz="2000">
              <a:solidFill>
                <a:srgbClr val="DCE1E6"/>
              </a:solidFill>
              <a:latin typeface="Calibri"/>
              <a:ea typeface="Calibri"/>
              <a:cs typeface="Calibri"/>
              <a:sym typeface="Calibri"/>
            </a:endParaRPr>
          </a:p>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Heap: Динамична памет (new/delete), голям обем, ръчно управление.</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Заделя се и се освобождава по всяко време на изпълнение на програмата;</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Програмата може да заяви блок с произволна големина</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Имаме контрол над управлението на паметта</a:t>
            </a:r>
            <a:endParaRPr sz="2000">
              <a:solidFill>
                <a:srgbClr val="DCE1E6"/>
              </a:solidFill>
              <a:latin typeface="Calibri"/>
              <a:ea typeface="Calibri"/>
              <a:cs typeface="Calibri"/>
              <a:sym typeface="Calibri"/>
            </a:endParaRPr>
          </a:p>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Глобална (Статична): в тази памет се записват статичните/глобалните променливи.</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Program Code: памет, в която се пази нашият компилиран код</a:t>
            </a:r>
            <a:endParaRPr sz="2000">
              <a:solidFill>
                <a:srgbClr val="DCE1E6"/>
              </a:solidFill>
              <a:latin typeface="Calibri"/>
              <a:ea typeface="Calibri"/>
              <a:cs typeface="Calibri"/>
              <a:sym typeface="Calibri"/>
            </a:endParaRPr>
          </a:p>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129" name="Shape 129"/>
        <p:cNvGrpSpPr/>
        <p:nvPr/>
      </p:nvGrpSpPr>
      <p:grpSpPr>
        <a:xfrm>
          <a:off x="0" y="0"/>
          <a:ext cx="0" cy="0"/>
          <a:chOff x="0" y="0"/>
          <a:chExt cx="0" cy="0"/>
        </a:xfrm>
      </p:grpSpPr>
      <p:sp>
        <p:nvSpPr>
          <p:cNvPr id="130" name="Google Shape;130;p20"/>
          <p:cNvSpPr txBox="1"/>
          <p:nvPr/>
        </p:nvSpPr>
        <p:spPr>
          <a:xfrm>
            <a:off x="548640" y="274320"/>
            <a:ext cx="108813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200">
                <a:solidFill>
                  <a:srgbClr val="DCE1E6"/>
                </a:solidFill>
                <a:latin typeface="Calibri"/>
                <a:ea typeface="Calibri"/>
                <a:cs typeface="Calibri"/>
                <a:sym typeface="Calibri"/>
              </a:rPr>
              <a:t>Пример за използване на указатели и референции, stack и heap.</a:t>
            </a:r>
            <a:endParaRPr/>
          </a:p>
        </p:txBody>
      </p:sp>
      <p:sp>
        <p:nvSpPr>
          <p:cNvPr id="131" name="Google Shape;131;p20"/>
          <p:cNvSpPr/>
          <p:nvPr/>
        </p:nvSpPr>
        <p:spPr>
          <a:xfrm>
            <a:off x="548640" y="914400"/>
            <a:ext cx="10058400" cy="5212080"/>
          </a:xfrm>
          <a:prstGeom prst="roundRect">
            <a:avLst>
              <a:gd fmla="val 16667" name="adj"/>
            </a:avLst>
          </a:prstGeom>
          <a:solidFill>
            <a:srgbClr val="12181F"/>
          </a:solidFill>
          <a:ln cap="flat" cmpd="sng" w="9525">
            <a:solidFill>
              <a:srgbClr val="282C34"/>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20"/>
          <p:cNvSpPr/>
          <p:nvPr/>
        </p:nvSpPr>
        <p:spPr>
          <a:xfrm>
            <a:off x="548640" y="914400"/>
            <a:ext cx="640080" cy="5212080"/>
          </a:xfrm>
          <a:prstGeom prst="rect">
            <a:avLst/>
          </a:prstGeom>
          <a:solidFill>
            <a:srgbClr val="181E2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20"/>
          <p:cNvSpPr txBox="1"/>
          <p:nvPr/>
        </p:nvSpPr>
        <p:spPr>
          <a:xfrm>
            <a:off x="594360" y="1051560"/>
            <a:ext cx="5487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9</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10</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19</a:t>
            </a:r>
            <a:endParaRPr b="0" i="0" sz="900" u="none" cap="none" strike="noStrike">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24</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25</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26</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27</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28</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29</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34</a:t>
            </a:r>
            <a:endParaRPr sz="900">
              <a:solidFill>
                <a:srgbClr val="828C96"/>
              </a:solidFill>
              <a:latin typeface="Consolas"/>
              <a:ea typeface="Consolas"/>
              <a:cs typeface="Consolas"/>
              <a:sym typeface="Consolas"/>
            </a:endParaRPr>
          </a:p>
        </p:txBody>
      </p:sp>
      <p:sp>
        <p:nvSpPr>
          <p:cNvPr id="134" name="Google Shape;134;p20"/>
          <p:cNvSpPr txBox="1"/>
          <p:nvPr/>
        </p:nvSpPr>
        <p:spPr>
          <a:xfrm>
            <a:off x="1325875" y="1051552"/>
            <a:ext cx="9144000" cy="5048700"/>
          </a:xfrm>
          <a:prstGeom prst="rect">
            <a:avLst/>
          </a:prstGeom>
          <a:noFill/>
          <a:ln>
            <a:noFill/>
          </a:ln>
        </p:spPr>
        <p:txBody>
          <a:bodyPr anchorCtr="0" anchor="t" bIns="45700" lIns="76200" spcFirstLastPara="1" rIns="91425" wrap="square" tIns="76200">
            <a:spAutoFit/>
          </a:bodyPr>
          <a:lstStyle/>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#include &lt;iostream&gt;</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int main()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 1️⃣ Stack allocation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int a = 10;                 // 'a' lives on the stack</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 2️⃣ Heap (dynamic) allocation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int* heapInt = new int(30); // int lives on the heap  // pointer itself lives on the stack</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 Print values</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std::cout &lt;&lt; "Stack value (a): " &lt;&lt; a &lt;&lt; '\n';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std::cout &lt;&lt; "Heap value (*heapInt): " &lt;&lt; *heapInt &lt;&lt; '\n';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 Print addresses</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std::cout &lt;&lt; "Address of a (stack): " &lt;&lt; &amp;a &lt;&lt; '\n';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std::cout &lt;&lt; "Address of heap value: " &lt;&lt; heapInt &lt;&lt; '\n';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 3️⃣ Clean up heap memory</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delete heapInt;             // deletes HEAP memory (not stack!)</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heapInt = nullptr;          // avoid dangling pointer</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 4️⃣ Pointer can point to stack memory</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heapInt = &amp;a;               // now points to stack variable 'a'</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std::cout &lt;&lt; "Pointer now points to a, value: " &lt;&lt; *heapInt &lt;&lt; '\n';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 5️⃣ Reference example</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int&amp; ref = a;               // ref is an alias for 'a'</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ref = 50;                   // modifies 'a'</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std::cout &lt;&lt; "a after reference change: " &lt;&lt; a &lt;&lt; '\n';</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   return 0;</a:t>
            </a:r>
            <a:endParaRPr sz="11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100">
                <a:solidFill>
                  <a:srgbClr val="DCE6F0"/>
                </a:solidFill>
                <a:latin typeface="Consolas"/>
                <a:ea typeface="Consolas"/>
                <a:cs typeface="Consolas"/>
                <a:sym typeface="Consolas"/>
              </a:rPr>
              <a:t>}</a:t>
            </a:r>
            <a:endParaRPr sz="1100">
              <a:solidFill>
                <a:srgbClr val="DCE6F0"/>
              </a:solidFill>
              <a:latin typeface="Consolas"/>
              <a:ea typeface="Consolas"/>
              <a:cs typeface="Consolas"/>
              <a:sym typeface="Consolas"/>
            </a:endParaRPr>
          </a:p>
          <a:p>
            <a:pPr indent="0" lvl="0" marL="0" marR="0" rtl="0" algn="l">
              <a:spcBef>
                <a:spcPts val="0"/>
              </a:spcBef>
              <a:spcAft>
                <a:spcPts val="0"/>
              </a:spcAft>
              <a:buClr>
                <a:srgbClr val="000000"/>
              </a:buClr>
              <a:buFont typeface="Arial"/>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138" name="Shape 138"/>
        <p:cNvGrpSpPr/>
        <p:nvPr/>
      </p:nvGrpSpPr>
      <p:grpSpPr>
        <a:xfrm>
          <a:off x="0" y="0"/>
          <a:ext cx="0" cy="0"/>
          <a:chOff x="0" y="0"/>
          <a:chExt cx="0" cy="0"/>
        </a:xfrm>
      </p:grpSpPr>
      <p:sp>
        <p:nvSpPr>
          <p:cNvPr id="139" name="Google Shape;139;p21"/>
          <p:cNvSpPr txBox="1"/>
          <p:nvPr/>
        </p:nvSpPr>
        <p:spPr>
          <a:xfrm>
            <a:off x="640080" y="1280160"/>
            <a:ext cx="10881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B4D7"/>
                </a:solidFill>
                <a:latin typeface="Calibri"/>
                <a:ea typeface="Calibri"/>
                <a:cs typeface="Calibri"/>
                <a:sym typeface="Calibri"/>
              </a:rPr>
              <a:t>Подаване по стойност и по референция</a:t>
            </a:r>
            <a:endParaRPr/>
          </a:p>
        </p:txBody>
      </p:sp>
      <p:sp>
        <p:nvSpPr>
          <p:cNvPr id="140" name="Google Shape;140;p21"/>
          <p:cNvSpPr txBox="1"/>
          <p:nvPr/>
        </p:nvSpPr>
        <p:spPr>
          <a:xfrm>
            <a:off x="640075" y="2011679"/>
            <a:ext cx="10881300" cy="2462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По стойност: Прави се копие. Бавно за големи обекти.</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По референция: Директен достъп. Бързо и спестява памет. Обектът би могъл да бъде променен.</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Const референция: Сигурност + Скорост. Сигнализира на четящият нашия код, че няма да бъде променян обектът.</a:t>
            </a:r>
            <a:endParaRPr sz="2000">
              <a:solidFill>
                <a:srgbClr val="DCE1E6"/>
              </a:solidFill>
              <a:latin typeface="Calibri"/>
              <a:ea typeface="Calibri"/>
              <a:cs typeface="Calibri"/>
              <a:sym typeface="Calibri"/>
            </a:endParaRPr>
          </a:p>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144" name="Shape 144"/>
        <p:cNvGrpSpPr/>
        <p:nvPr/>
      </p:nvGrpSpPr>
      <p:grpSpPr>
        <a:xfrm>
          <a:off x="0" y="0"/>
          <a:ext cx="0" cy="0"/>
          <a:chOff x="0" y="0"/>
          <a:chExt cx="0" cy="0"/>
        </a:xfrm>
      </p:grpSpPr>
      <p:sp>
        <p:nvSpPr>
          <p:cNvPr id="145" name="Google Shape;145;p22"/>
          <p:cNvSpPr/>
          <p:nvPr/>
        </p:nvSpPr>
        <p:spPr>
          <a:xfrm>
            <a:off x="548640" y="548640"/>
            <a:ext cx="5486400" cy="4937760"/>
          </a:xfrm>
          <a:prstGeom prst="roundRect">
            <a:avLst>
              <a:gd fmla="val 16667" name="adj"/>
            </a:avLst>
          </a:prstGeom>
          <a:solidFill>
            <a:srgbClr val="0B233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22"/>
          <p:cNvSpPr txBox="1"/>
          <p:nvPr/>
        </p:nvSpPr>
        <p:spPr>
          <a:xfrm>
            <a:off x="731520" y="731520"/>
            <a:ext cx="512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4D7"/>
                </a:solidFill>
                <a:latin typeface="Calibri"/>
                <a:ea typeface="Calibri"/>
                <a:cs typeface="Calibri"/>
                <a:sym typeface="Calibri"/>
              </a:rPr>
              <a:t>Примери</a:t>
            </a:r>
            <a:endParaRPr/>
          </a:p>
        </p:txBody>
      </p:sp>
      <p:sp>
        <p:nvSpPr>
          <p:cNvPr id="147" name="Google Shape;147;p22"/>
          <p:cNvSpPr txBox="1"/>
          <p:nvPr/>
        </p:nvSpPr>
        <p:spPr>
          <a:xfrm>
            <a:off x="731520" y="1645920"/>
            <a:ext cx="5120700" cy="24936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#include &lt;iostream&gt;</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void f(int a) {</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   a++; // a++ will increment the value of the copy</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int main() {</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   int a = 10;</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   f(a);</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   std::cout &lt;&lt; a &lt;&lt; std::endl; //10</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a:t>
            </a:r>
            <a:endParaRPr sz="1300">
              <a:solidFill>
                <a:srgbClr val="DCE1E6"/>
              </a:solidFill>
              <a:latin typeface="Calibri"/>
              <a:ea typeface="Calibri"/>
              <a:cs typeface="Calibri"/>
              <a:sym typeface="Calibri"/>
            </a:endParaRPr>
          </a:p>
          <a:p>
            <a:pPr indent="0" lvl="0" marL="0" marR="0" rtl="0" algn="l">
              <a:spcBef>
                <a:spcPts val="0"/>
              </a:spcBef>
              <a:spcAft>
                <a:spcPts val="0"/>
              </a:spcAft>
              <a:buClr>
                <a:srgbClr val="000000"/>
              </a:buClr>
              <a:buFont typeface="Arial"/>
              <a:buNone/>
            </a:pPr>
            <a:r>
              <a:t/>
            </a:r>
            <a:endParaRPr sz="1300">
              <a:solidFill>
                <a:srgbClr val="DCE1E6"/>
              </a:solidFill>
              <a:latin typeface="Calibri"/>
              <a:ea typeface="Calibri"/>
              <a:cs typeface="Calibri"/>
              <a:sym typeface="Calibri"/>
            </a:endParaRPr>
          </a:p>
        </p:txBody>
      </p:sp>
      <p:sp>
        <p:nvSpPr>
          <p:cNvPr id="148" name="Google Shape;148;p22"/>
          <p:cNvSpPr/>
          <p:nvPr/>
        </p:nvSpPr>
        <p:spPr>
          <a:xfrm>
            <a:off x="6400800" y="548640"/>
            <a:ext cx="5212080" cy="4937760"/>
          </a:xfrm>
          <a:prstGeom prst="roundRect">
            <a:avLst>
              <a:gd fmla="val 16667" name="adj"/>
            </a:avLst>
          </a:prstGeom>
          <a:solidFill>
            <a:srgbClr val="12181F"/>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 name="Google Shape;149;p22"/>
          <p:cNvSpPr txBox="1"/>
          <p:nvPr/>
        </p:nvSpPr>
        <p:spPr>
          <a:xfrm>
            <a:off x="6537950" y="685800"/>
            <a:ext cx="4937700" cy="4710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#include &lt;iostream&gt;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void f(int&amp; a)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a++; // a++ will increment the actual value of the passed variable</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void f(int* a)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(*a)++; // a++ will increment the value at the address where the pointer points at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int main()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int a = 10;</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f(a);</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f(&amp;a);</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std::cout &lt;&lt; a &lt;&lt; std::endl; //12</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153" name="Shape 153"/>
        <p:cNvGrpSpPr/>
        <p:nvPr/>
      </p:nvGrpSpPr>
      <p:grpSpPr>
        <a:xfrm>
          <a:off x="0" y="0"/>
          <a:ext cx="0" cy="0"/>
          <a:chOff x="0" y="0"/>
          <a:chExt cx="0" cy="0"/>
        </a:xfrm>
      </p:grpSpPr>
      <p:sp>
        <p:nvSpPr>
          <p:cNvPr id="154" name="Google Shape;154;p23"/>
          <p:cNvSpPr txBox="1"/>
          <p:nvPr/>
        </p:nvSpPr>
        <p:spPr>
          <a:xfrm>
            <a:off x="548640" y="365760"/>
            <a:ext cx="108813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DCE1E6"/>
                </a:solidFill>
                <a:latin typeface="Calibri"/>
                <a:ea typeface="Calibri"/>
                <a:cs typeface="Calibri"/>
                <a:sym typeface="Calibri"/>
              </a:rPr>
              <a:t>Процедурно програмиране - пример и проблеми в кода</a:t>
            </a:r>
            <a:endParaRPr/>
          </a:p>
        </p:txBody>
      </p:sp>
      <p:sp>
        <p:nvSpPr>
          <p:cNvPr id="155" name="Google Shape;155;p23"/>
          <p:cNvSpPr/>
          <p:nvPr/>
        </p:nvSpPr>
        <p:spPr>
          <a:xfrm>
            <a:off x="548640" y="1097280"/>
            <a:ext cx="3108960" cy="2011680"/>
          </a:xfrm>
          <a:prstGeom prst="roundRect">
            <a:avLst>
              <a:gd fmla="val 16667" name="adj"/>
            </a:avLst>
          </a:prstGeom>
          <a:solidFill>
            <a:srgbClr val="0A1E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23"/>
          <p:cNvSpPr txBox="1"/>
          <p:nvPr/>
        </p:nvSpPr>
        <p:spPr>
          <a:xfrm>
            <a:off x="685675" y="1097275"/>
            <a:ext cx="2834700" cy="338700"/>
          </a:xfrm>
          <a:prstGeom prst="rect">
            <a:avLst/>
          </a:prstGeom>
          <a:noFill/>
          <a:ln>
            <a:noFill/>
          </a:ln>
        </p:spPr>
        <p:txBody>
          <a:bodyPr anchorCtr="0" anchor="t" bIns="45700" lIns="91425" spcFirstLastPara="1" rIns="91425" wrap="square" tIns="45700">
            <a:spAutoFit/>
          </a:bodyPr>
          <a:lstStyle/>
          <a:p>
            <a:pPr indent="457200" lvl="0" marL="0" marR="0" rtl="0" algn="l">
              <a:spcBef>
                <a:spcPts val="0"/>
              </a:spcBef>
              <a:spcAft>
                <a:spcPts val="0"/>
              </a:spcAft>
              <a:buNone/>
            </a:pPr>
            <a:r>
              <a:rPr b="1" lang="en-US" sz="1600">
                <a:solidFill>
                  <a:srgbClr val="00B4D7"/>
                </a:solidFill>
                <a:latin typeface="Calibri"/>
                <a:ea typeface="Calibri"/>
                <a:cs typeface="Calibri"/>
                <a:sym typeface="Calibri"/>
              </a:rPr>
              <a:t>Характеристики</a:t>
            </a:r>
            <a:endParaRPr/>
          </a:p>
        </p:txBody>
      </p:sp>
      <p:sp>
        <p:nvSpPr>
          <p:cNvPr id="157" name="Google Shape;157;p23"/>
          <p:cNvSpPr txBox="1"/>
          <p:nvPr/>
        </p:nvSpPr>
        <p:spPr>
          <a:xfrm>
            <a:off x="685675" y="1366150"/>
            <a:ext cx="2834700" cy="230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rPr lang="en-US" sz="1200">
                <a:solidFill>
                  <a:srgbClr val="DCE1E6"/>
                </a:solidFill>
                <a:latin typeface="Calibri"/>
                <a:ea typeface="Calibri"/>
                <a:cs typeface="Calibri"/>
                <a:sym typeface="Calibri"/>
              </a:rPr>
              <a:t>Данните и функциите са отделени</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rPr lang="en-US" sz="1200">
                <a:solidFill>
                  <a:srgbClr val="DCE1E6"/>
                </a:solidFill>
                <a:latin typeface="Calibri"/>
                <a:ea typeface="Calibri"/>
                <a:cs typeface="Calibri"/>
                <a:sym typeface="Calibri"/>
              </a:rPr>
              <a:t>Логиката се разпределя на много функции</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rPr lang="en-US" sz="1200">
                <a:solidFill>
                  <a:srgbClr val="DCE1E6"/>
                </a:solidFill>
                <a:latin typeface="Calibri"/>
                <a:ea typeface="Calibri"/>
                <a:cs typeface="Calibri"/>
                <a:sym typeface="Calibri"/>
              </a:rPr>
              <a:t>Подходящ за малки програми</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rPr lang="en-US" sz="1200">
                <a:solidFill>
                  <a:srgbClr val="DCE1E6"/>
                </a:solidFill>
                <a:latin typeface="Calibri"/>
                <a:ea typeface="Calibri"/>
                <a:cs typeface="Calibri"/>
                <a:sym typeface="Calibri"/>
              </a:rPr>
              <a:t>Трудна поддръжка при разрастване</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p:txBody>
      </p:sp>
      <p:sp>
        <p:nvSpPr>
          <p:cNvPr id="158" name="Google Shape;158;p23"/>
          <p:cNvSpPr/>
          <p:nvPr/>
        </p:nvSpPr>
        <p:spPr>
          <a:xfrm>
            <a:off x="3840475" y="1097268"/>
            <a:ext cx="3108900" cy="4733700"/>
          </a:xfrm>
          <a:prstGeom prst="roundRect">
            <a:avLst>
              <a:gd fmla="val 16667" name="adj"/>
            </a:avLst>
          </a:prstGeom>
          <a:solidFill>
            <a:srgbClr val="0A1E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23"/>
          <p:cNvSpPr txBox="1"/>
          <p:nvPr/>
        </p:nvSpPr>
        <p:spPr>
          <a:xfrm>
            <a:off x="3977603" y="1030914"/>
            <a:ext cx="2834700" cy="33870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1600">
                <a:solidFill>
                  <a:srgbClr val="00B4D7"/>
                </a:solidFill>
                <a:latin typeface="Calibri"/>
                <a:ea typeface="Calibri"/>
                <a:cs typeface="Calibri"/>
                <a:sym typeface="Calibri"/>
              </a:rPr>
              <a:t>Пример</a:t>
            </a:r>
            <a:endParaRPr/>
          </a:p>
        </p:txBody>
      </p:sp>
      <p:sp>
        <p:nvSpPr>
          <p:cNvPr id="160" name="Google Shape;160;p23"/>
          <p:cNvSpPr txBox="1"/>
          <p:nvPr/>
        </p:nvSpPr>
        <p:spPr>
          <a:xfrm>
            <a:off x="3977603" y="1435965"/>
            <a:ext cx="2834700" cy="4155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struct BankAccount {</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    double balance;</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void deposit(BankAccount&amp; acc, double amount) {</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    acc.balance += amount;</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void withdraw(BankAccount&amp; acc, double amount) {</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    if (acc.balance &gt;= amount)</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        acc.balance -= amount;</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int main() {</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    BankAccount acc{100.0};</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    deposit(acc, 50);</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    withdraw(acc, 30);</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p:txBody>
      </p:sp>
      <p:sp>
        <p:nvSpPr>
          <p:cNvPr id="161" name="Google Shape;161;p23"/>
          <p:cNvSpPr/>
          <p:nvPr/>
        </p:nvSpPr>
        <p:spPr>
          <a:xfrm>
            <a:off x="7132320" y="1097280"/>
            <a:ext cx="3108960" cy="2011680"/>
          </a:xfrm>
          <a:prstGeom prst="roundRect">
            <a:avLst>
              <a:gd fmla="val 16667" name="adj"/>
            </a:avLst>
          </a:prstGeom>
          <a:solidFill>
            <a:srgbClr val="0A1E32"/>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23"/>
          <p:cNvSpPr txBox="1"/>
          <p:nvPr/>
        </p:nvSpPr>
        <p:spPr>
          <a:xfrm>
            <a:off x="7269480" y="1011214"/>
            <a:ext cx="2834700" cy="33870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1600">
                <a:solidFill>
                  <a:srgbClr val="00B4D7"/>
                </a:solidFill>
                <a:latin typeface="Calibri"/>
                <a:ea typeface="Calibri"/>
                <a:cs typeface="Calibri"/>
                <a:sym typeface="Calibri"/>
              </a:rPr>
              <a:t>Проблеми</a:t>
            </a:r>
            <a:endParaRPr/>
          </a:p>
        </p:txBody>
      </p:sp>
      <p:sp>
        <p:nvSpPr>
          <p:cNvPr id="163" name="Google Shape;163;p23"/>
          <p:cNvSpPr txBox="1"/>
          <p:nvPr/>
        </p:nvSpPr>
        <p:spPr>
          <a:xfrm>
            <a:off x="7269480" y="1595203"/>
            <a:ext cx="2834700" cy="1015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Няма контрол върху достъпа до balance</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2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200">
                <a:solidFill>
                  <a:srgbClr val="DCE1E6"/>
                </a:solidFill>
                <a:latin typeface="Calibri"/>
                <a:ea typeface="Calibri"/>
                <a:cs typeface="Calibri"/>
                <a:sym typeface="Calibri"/>
              </a:rPr>
              <a:t>Всеки може да промени данните неправилно</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167" name="Shape 167"/>
        <p:cNvGrpSpPr/>
        <p:nvPr/>
      </p:nvGrpSpPr>
      <p:grpSpPr>
        <a:xfrm>
          <a:off x="0" y="0"/>
          <a:ext cx="0" cy="0"/>
          <a:chOff x="0" y="0"/>
          <a:chExt cx="0" cy="0"/>
        </a:xfrm>
      </p:grpSpPr>
      <p:sp>
        <p:nvSpPr>
          <p:cNvPr id="168" name="Google Shape;168;p24"/>
          <p:cNvSpPr txBox="1"/>
          <p:nvPr/>
        </p:nvSpPr>
        <p:spPr>
          <a:xfrm>
            <a:off x="640080" y="1280160"/>
            <a:ext cx="10881300" cy="61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400">
                <a:solidFill>
                  <a:srgbClr val="00B4D7"/>
                </a:solidFill>
                <a:latin typeface="Calibri"/>
                <a:ea typeface="Calibri"/>
                <a:cs typeface="Calibri"/>
                <a:sym typeface="Calibri"/>
              </a:rPr>
              <a:t>Обектно-ориентирано програмиране</a:t>
            </a:r>
            <a:endParaRPr/>
          </a:p>
        </p:txBody>
      </p:sp>
      <p:sp>
        <p:nvSpPr>
          <p:cNvPr id="169" name="Google Shape;169;p24"/>
          <p:cNvSpPr txBox="1"/>
          <p:nvPr/>
        </p:nvSpPr>
        <p:spPr>
          <a:xfrm>
            <a:off x="640075" y="2011679"/>
            <a:ext cx="10881300" cy="3386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Програмна парадигма - представлява фундаменталния стил на програмиране, който се дефинира с редица от принципи, концепции и техники за това как да имплементираме нашите програми.</a:t>
            </a:r>
            <a:endParaRPr sz="2000">
              <a:solidFill>
                <a:srgbClr val="DCE1E6"/>
              </a:solidFill>
              <a:latin typeface="Calibri"/>
              <a:ea typeface="Calibri"/>
              <a:cs typeface="Calibri"/>
              <a:sym typeface="Calibri"/>
            </a:endParaRPr>
          </a:p>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0" lvl="0" marL="0" rtl="0" algn="l">
              <a:spcBef>
                <a:spcPts val="0"/>
              </a:spcBef>
              <a:spcAft>
                <a:spcPts val="0"/>
              </a:spcAft>
              <a:buNone/>
            </a:pPr>
            <a:r>
              <a:rPr lang="en-US" sz="2000">
                <a:solidFill>
                  <a:srgbClr val="DCE1E6"/>
                </a:solidFill>
                <a:latin typeface="Calibri"/>
                <a:ea typeface="Calibri"/>
                <a:cs typeface="Calibri"/>
                <a:sym typeface="Calibri"/>
              </a:rPr>
              <a:t>• </a:t>
            </a:r>
            <a:r>
              <a:rPr lang="en-US" sz="2000">
                <a:solidFill>
                  <a:srgbClr val="DCE1E6"/>
                </a:solidFill>
                <a:latin typeface="Calibri"/>
                <a:ea typeface="Calibri"/>
                <a:cs typeface="Calibri"/>
                <a:sym typeface="Calibri"/>
              </a:rPr>
              <a:t>Обектно-ориентирано програмиране е програмна парадигма, при която една програмна система се моделира като набор от обекти, които взаимодействат помежду си, за разлика от традиционното виждане, в което една програма е списък от инструкции, които компютърът изпълнява. Всеки обект е способен да получава съобщения, обработва данни и праща съобщения на други обекти.</a:t>
            </a:r>
            <a:endParaRPr sz="2000">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173" name="Shape 173"/>
        <p:cNvGrpSpPr/>
        <p:nvPr/>
      </p:nvGrpSpPr>
      <p:grpSpPr>
        <a:xfrm>
          <a:off x="0" y="0"/>
          <a:ext cx="0" cy="0"/>
          <a:chOff x="0" y="0"/>
          <a:chExt cx="0" cy="0"/>
        </a:xfrm>
      </p:grpSpPr>
      <p:sp>
        <p:nvSpPr>
          <p:cNvPr id="174" name="Google Shape;174;p25"/>
          <p:cNvSpPr/>
          <p:nvPr/>
        </p:nvSpPr>
        <p:spPr>
          <a:xfrm>
            <a:off x="548640" y="548640"/>
            <a:ext cx="5486400" cy="4937700"/>
          </a:xfrm>
          <a:prstGeom prst="roundRect">
            <a:avLst>
              <a:gd fmla="val 16667" name="adj"/>
            </a:avLst>
          </a:prstGeom>
          <a:solidFill>
            <a:srgbClr val="0B23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5" name="Google Shape;175;p25"/>
          <p:cNvSpPr txBox="1"/>
          <p:nvPr/>
        </p:nvSpPr>
        <p:spPr>
          <a:xfrm>
            <a:off x="731520" y="731520"/>
            <a:ext cx="512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4D7"/>
                </a:solidFill>
                <a:latin typeface="Calibri"/>
                <a:ea typeface="Calibri"/>
                <a:cs typeface="Calibri"/>
                <a:sym typeface="Calibri"/>
              </a:rPr>
              <a:t>ООП пример</a:t>
            </a:r>
            <a:endParaRPr/>
          </a:p>
        </p:txBody>
      </p:sp>
      <p:sp>
        <p:nvSpPr>
          <p:cNvPr id="176" name="Google Shape;176;p25"/>
          <p:cNvSpPr txBox="1"/>
          <p:nvPr/>
        </p:nvSpPr>
        <p:spPr>
          <a:xfrm>
            <a:off x="731520" y="1645920"/>
            <a:ext cx="5120700" cy="2632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b="1" lang="en-US" sz="1800">
                <a:solidFill>
                  <a:srgbClr val="DCE1E6"/>
                </a:solidFill>
                <a:latin typeface="Calibri"/>
                <a:ea typeface="Calibri"/>
                <a:cs typeface="Calibri"/>
                <a:sym typeface="Calibri"/>
              </a:rPr>
              <a:t>Oсновни идеи :</a:t>
            </a:r>
            <a:endParaRPr b="1" sz="18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8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800">
                <a:solidFill>
                  <a:srgbClr val="DCE1E6"/>
                </a:solidFill>
                <a:latin typeface="Calibri"/>
                <a:ea typeface="Calibri"/>
                <a:cs typeface="Calibri"/>
                <a:sym typeface="Calibri"/>
              </a:rPr>
              <a:t>Данните + поведението са заедно</a:t>
            </a:r>
            <a:endParaRPr sz="18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8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800">
                <a:solidFill>
                  <a:srgbClr val="DCE1E6"/>
                </a:solidFill>
                <a:latin typeface="Calibri"/>
                <a:ea typeface="Calibri"/>
                <a:cs typeface="Calibri"/>
                <a:sym typeface="Calibri"/>
              </a:rPr>
              <a:t>Контрол чрез </a:t>
            </a:r>
            <a:r>
              <a:rPr lang="en-US" sz="1800">
                <a:solidFill>
                  <a:srgbClr val="DCE1E6"/>
                </a:solidFill>
                <a:latin typeface="Calibri"/>
                <a:ea typeface="Calibri"/>
                <a:cs typeface="Calibri"/>
                <a:sym typeface="Calibri"/>
              </a:rPr>
              <a:t>енкапсулация</a:t>
            </a:r>
            <a:endParaRPr sz="18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8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800">
                <a:solidFill>
                  <a:srgbClr val="DCE1E6"/>
                </a:solidFill>
                <a:latin typeface="Calibri"/>
                <a:ea typeface="Calibri"/>
                <a:cs typeface="Calibri"/>
                <a:sym typeface="Calibri"/>
              </a:rPr>
              <a:t>По-ясен модел на реалния свят</a:t>
            </a:r>
            <a:endParaRPr sz="18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3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300">
              <a:solidFill>
                <a:srgbClr val="DCE1E6"/>
              </a:solidFill>
              <a:latin typeface="Calibri"/>
              <a:ea typeface="Calibri"/>
              <a:cs typeface="Calibri"/>
              <a:sym typeface="Calibri"/>
            </a:endParaRPr>
          </a:p>
        </p:txBody>
      </p:sp>
      <p:sp>
        <p:nvSpPr>
          <p:cNvPr id="177" name="Google Shape;177;p25"/>
          <p:cNvSpPr/>
          <p:nvPr/>
        </p:nvSpPr>
        <p:spPr>
          <a:xfrm>
            <a:off x="6400800" y="548640"/>
            <a:ext cx="5212200" cy="4937700"/>
          </a:xfrm>
          <a:prstGeom prst="roundRect">
            <a:avLst>
              <a:gd fmla="val 16667" name="adj"/>
            </a:avLst>
          </a:prstGeom>
          <a:solidFill>
            <a:srgbClr val="12181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25"/>
          <p:cNvSpPr txBox="1"/>
          <p:nvPr/>
        </p:nvSpPr>
        <p:spPr>
          <a:xfrm>
            <a:off x="6537950" y="115875"/>
            <a:ext cx="4937700" cy="6926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class BankAccount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double balance;</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public:</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BankAccount(double initial) : balance(initial)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void deposit(double amount)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balance += amount;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bool withdraw(double amount)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if (balance &gt;= amount)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balance -= amount;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return true;</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return false;</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double getBalance() const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return balance;</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int main()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BankAccount acc(100.0);</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acc.deposit(50);</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acc.withdraw(30);</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182" name="Shape 182"/>
        <p:cNvGrpSpPr/>
        <p:nvPr/>
      </p:nvGrpSpPr>
      <p:grpSpPr>
        <a:xfrm>
          <a:off x="0" y="0"/>
          <a:ext cx="0" cy="0"/>
          <a:chOff x="0" y="0"/>
          <a:chExt cx="0" cy="0"/>
        </a:xfrm>
      </p:grpSpPr>
      <p:sp>
        <p:nvSpPr>
          <p:cNvPr id="183" name="Google Shape;183;p26"/>
          <p:cNvSpPr/>
          <p:nvPr/>
        </p:nvSpPr>
        <p:spPr>
          <a:xfrm>
            <a:off x="548640" y="548640"/>
            <a:ext cx="5486400" cy="4937700"/>
          </a:xfrm>
          <a:prstGeom prst="roundRect">
            <a:avLst>
              <a:gd fmla="val 16667" name="adj"/>
            </a:avLst>
          </a:prstGeom>
          <a:solidFill>
            <a:srgbClr val="0B23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4" name="Google Shape;184;p26"/>
          <p:cNvSpPr txBox="1"/>
          <p:nvPr/>
        </p:nvSpPr>
        <p:spPr>
          <a:xfrm>
            <a:off x="731520" y="731520"/>
            <a:ext cx="512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4D7"/>
                </a:solidFill>
                <a:latin typeface="Calibri"/>
                <a:ea typeface="Calibri"/>
                <a:cs typeface="Calibri"/>
                <a:sym typeface="Calibri"/>
              </a:rPr>
              <a:t>Предимства на ООП</a:t>
            </a:r>
            <a:endParaRPr/>
          </a:p>
        </p:txBody>
      </p:sp>
      <p:sp>
        <p:nvSpPr>
          <p:cNvPr id="185" name="Google Shape;185;p26"/>
          <p:cNvSpPr txBox="1"/>
          <p:nvPr/>
        </p:nvSpPr>
        <p:spPr>
          <a:xfrm>
            <a:off x="731520" y="1645920"/>
            <a:ext cx="5120700" cy="4032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1700">
                <a:solidFill>
                  <a:srgbClr val="DCE1E6"/>
                </a:solidFill>
                <a:latin typeface="Calibri"/>
                <a:ea typeface="Calibri"/>
                <a:cs typeface="Calibri"/>
                <a:sym typeface="Calibri"/>
              </a:rPr>
              <a:t> Енкапсулация – защита на данните</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700">
                <a:solidFill>
                  <a:srgbClr val="DCE1E6"/>
                </a:solidFill>
                <a:latin typeface="Calibri"/>
                <a:ea typeface="Calibri"/>
                <a:cs typeface="Calibri"/>
                <a:sym typeface="Calibri"/>
              </a:rPr>
              <a:t> Модулност – кодът е по-структуриран</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700">
                <a:solidFill>
                  <a:srgbClr val="DCE1E6"/>
                </a:solidFill>
                <a:latin typeface="Calibri"/>
                <a:ea typeface="Calibri"/>
                <a:cs typeface="Calibri"/>
                <a:sym typeface="Calibri"/>
              </a:rPr>
              <a:t> Повторна употреба (reuse)</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700">
                <a:solidFill>
                  <a:srgbClr val="DCE1E6"/>
                </a:solidFill>
                <a:latin typeface="Calibri"/>
                <a:ea typeface="Calibri"/>
                <a:cs typeface="Calibri"/>
                <a:sym typeface="Calibri"/>
              </a:rPr>
              <a:t> По-лесна поддръжка и разширяване</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700">
                <a:solidFill>
                  <a:srgbClr val="DCE1E6"/>
                </a:solidFill>
                <a:latin typeface="Calibri"/>
                <a:ea typeface="Calibri"/>
                <a:cs typeface="Calibri"/>
                <a:sym typeface="Calibri"/>
              </a:rPr>
              <a:t> По-подходящо за големи системи</a:t>
            </a:r>
            <a:endParaRPr sz="17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300">
                <a:solidFill>
                  <a:srgbClr val="DCE1E6"/>
                </a:solidFill>
                <a:latin typeface="Calibri"/>
                <a:ea typeface="Calibri"/>
                <a:cs typeface="Calibri"/>
                <a:sym typeface="Calibri"/>
              </a:rPr>
              <a:t> </a:t>
            </a:r>
            <a:r>
              <a:rPr lang="en-US" sz="1600">
                <a:solidFill>
                  <a:srgbClr val="DCE1E6"/>
                </a:solidFill>
                <a:latin typeface="Calibri"/>
                <a:ea typeface="Calibri"/>
                <a:cs typeface="Calibri"/>
                <a:sym typeface="Calibri"/>
              </a:rPr>
              <a:t>Възможност за абстракция  -  скриване на имплементацията и ненужните детайли от потребителя на обекта. Той работи с неговия интерфейс без да знае как точно са имплементирани неговите атрибути</a:t>
            </a:r>
            <a:endParaRPr sz="1500">
              <a:solidFill>
                <a:srgbClr val="1F2328"/>
              </a:solidFill>
              <a:highlight>
                <a:srgbClr val="FFFFFF"/>
              </a:highlight>
            </a:endParaRPr>
          </a:p>
          <a:p>
            <a:pPr indent="0" lvl="0" marL="0" rtl="0" algn="l">
              <a:spcBef>
                <a:spcPts val="0"/>
              </a:spcBef>
              <a:spcAft>
                <a:spcPts val="0"/>
              </a:spcAft>
              <a:buSzPts val="1100"/>
              <a:buNone/>
            </a:pPr>
            <a:r>
              <a:t/>
            </a:r>
            <a:endParaRPr sz="13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300">
              <a:solidFill>
                <a:srgbClr val="DCE1E6"/>
              </a:solidFill>
              <a:latin typeface="Calibri"/>
              <a:ea typeface="Calibri"/>
              <a:cs typeface="Calibri"/>
              <a:sym typeface="Calibri"/>
            </a:endParaRPr>
          </a:p>
        </p:txBody>
      </p:sp>
      <p:sp>
        <p:nvSpPr>
          <p:cNvPr id="186" name="Google Shape;186;p26"/>
          <p:cNvSpPr/>
          <p:nvPr/>
        </p:nvSpPr>
        <p:spPr>
          <a:xfrm>
            <a:off x="6400800" y="548640"/>
            <a:ext cx="5212200" cy="4937700"/>
          </a:xfrm>
          <a:prstGeom prst="roundRect">
            <a:avLst>
              <a:gd fmla="val 16667" name="adj"/>
            </a:avLst>
          </a:prstGeom>
          <a:solidFill>
            <a:srgbClr val="12181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26"/>
          <p:cNvSpPr txBox="1"/>
          <p:nvPr/>
        </p:nvSpPr>
        <p:spPr>
          <a:xfrm>
            <a:off x="6538050" y="1844450"/>
            <a:ext cx="4937700" cy="27861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b="1" lang="en-US" sz="1700">
                <a:solidFill>
                  <a:srgbClr val="DCE6F0"/>
                </a:solidFill>
                <a:latin typeface="Consolas"/>
                <a:ea typeface="Consolas"/>
                <a:cs typeface="Consolas"/>
                <a:sym typeface="Consolas"/>
              </a:rPr>
              <a:t>Процедурен стил		OOP</a:t>
            </a:r>
            <a:endParaRPr b="1" sz="17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b="1" sz="17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Данни отделно			Данни + логика</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Трудна поддръжка		Лесно разширяване</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По-малко сигурност	Контрол на достъпа</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Често дублиране		Преизползване с класове</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Трудно тестване		По-лесно тестване</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Лоша четимост			По-добра четимост</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5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191" name="Shape 191"/>
        <p:cNvGrpSpPr/>
        <p:nvPr/>
      </p:nvGrpSpPr>
      <p:grpSpPr>
        <a:xfrm>
          <a:off x="0" y="0"/>
          <a:ext cx="0" cy="0"/>
          <a:chOff x="0" y="0"/>
          <a:chExt cx="0" cy="0"/>
        </a:xfrm>
      </p:grpSpPr>
      <p:sp>
        <p:nvSpPr>
          <p:cNvPr id="192" name="Google Shape;192;p27"/>
          <p:cNvSpPr/>
          <p:nvPr/>
        </p:nvSpPr>
        <p:spPr>
          <a:xfrm>
            <a:off x="548640" y="548640"/>
            <a:ext cx="5486400" cy="4937700"/>
          </a:xfrm>
          <a:prstGeom prst="roundRect">
            <a:avLst>
              <a:gd fmla="val 16667" name="adj"/>
            </a:avLst>
          </a:prstGeom>
          <a:solidFill>
            <a:srgbClr val="0B23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27"/>
          <p:cNvSpPr txBox="1"/>
          <p:nvPr/>
        </p:nvSpPr>
        <p:spPr>
          <a:xfrm>
            <a:off x="731520" y="731520"/>
            <a:ext cx="512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4D7"/>
                </a:solidFill>
                <a:latin typeface="Calibri"/>
                <a:ea typeface="Calibri"/>
                <a:cs typeface="Calibri"/>
                <a:sym typeface="Calibri"/>
              </a:rPr>
              <a:t>Какво е struct в езика С++?</a:t>
            </a:r>
            <a:endParaRPr/>
          </a:p>
        </p:txBody>
      </p:sp>
      <p:sp>
        <p:nvSpPr>
          <p:cNvPr id="194" name="Google Shape;194;p27"/>
          <p:cNvSpPr txBox="1"/>
          <p:nvPr/>
        </p:nvSpPr>
        <p:spPr>
          <a:xfrm>
            <a:off x="731520" y="1645920"/>
            <a:ext cx="5120700" cy="3294000"/>
          </a:xfrm>
          <a:prstGeom prst="rect">
            <a:avLst/>
          </a:prstGeom>
          <a:noFill/>
          <a:ln>
            <a:noFill/>
          </a:ln>
        </p:spPr>
        <p:txBody>
          <a:bodyPr anchorCtr="0" anchor="t" bIns="45700" lIns="91425" spcFirstLastPara="1" rIns="91425" wrap="square" tIns="45700">
            <a:spAutoFit/>
          </a:bodyPr>
          <a:lstStyle/>
          <a:p>
            <a:pPr indent="-311150" lvl="0" marL="457200" rtl="0" algn="l">
              <a:spcBef>
                <a:spcPts val="0"/>
              </a:spcBef>
              <a:spcAft>
                <a:spcPts val="0"/>
              </a:spcAft>
              <a:buClr>
                <a:srgbClr val="DCE1E6"/>
              </a:buClr>
              <a:buSzPts val="1300"/>
              <a:buFont typeface="Calibri"/>
              <a:buChar char="●"/>
            </a:pPr>
            <a:r>
              <a:rPr lang="en-US" sz="1300">
                <a:solidFill>
                  <a:srgbClr val="DCE1E6"/>
                </a:solidFill>
                <a:latin typeface="Calibri"/>
                <a:ea typeface="Calibri"/>
                <a:cs typeface="Calibri"/>
                <a:sym typeface="Calibri"/>
              </a:rPr>
              <a:t>Подобна на клас</a:t>
            </a:r>
            <a:endParaRPr sz="1300">
              <a:solidFill>
                <a:srgbClr val="DCE1E6"/>
              </a:solidFill>
              <a:latin typeface="Calibri"/>
              <a:ea typeface="Calibri"/>
              <a:cs typeface="Calibri"/>
              <a:sym typeface="Calibri"/>
            </a:endParaRPr>
          </a:p>
          <a:p>
            <a:pPr indent="0" lvl="0" marL="457200" rtl="0" algn="l">
              <a:spcBef>
                <a:spcPts val="0"/>
              </a:spcBef>
              <a:spcAft>
                <a:spcPts val="0"/>
              </a:spcAft>
              <a:buNone/>
            </a:pPr>
            <a:r>
              <a:t/>
            </a:r>
            <a:endParaRPr sz="1300">
              <a:solidFill>
                <a:srgbClr val="DCE1E6"/>
              </a:solidFill>
              <a:latin typeface="Calibri"/>
              <a:ea typeface="Calibri"/>
              <a:cs typeface="Calibri"/>
              <a:sym typeface="Calibri"/>
            </a:endParaRPr>
          </a:p>
          <a:p>
            <a:pPr indent="-311150" lvl="0" marL="457200" rtl="0" algn="l">
              <a:spcBef>
                <a:spcPts val="0"/>
              </a:spcBef>
              <a:spcAft>
                <a:spcPts val="0"/>
              </a:spcAft>
              <a:buClr>
                <a:srgbClr val="DCE1E6"/>
              </a:buClr>
              <a:buSzPts val="1300"/>
              <a:buFont typeface="Calibri"/>
              <a:buChar char="●"/>
            </a:pPr>
            <a:r>
              <a:rPr lang="en-US" sz="1300">
                <a:solidFill>
                  <a:srgbClr val="DCE1E6"/>
                </a:solidFill>
                <a:latin typeface="Calibri"/>
                <a:ea typeface="Calibri"/>
                <a:cs typeface="Calibri"/>
                <a:sym typeface="Calibri"/>
              </a:rPr>
              <a:t>По подразбиране: членовете са public</a:t>
            </a:r>
            <a:endParaRPr sz="1300">
              <a:solidFill>
                <a:srgbClr val="DCE1E6"/>
              </a:solidFill>
              <a:latin typeface="Calibri"/>
              <a:ea typeface="Calibri"/>
              <a:cs typeface="Calibri"/>
              <a:sym typeface="Calibri"/>
            </a:endParaRPr>
          </a:p>
          <a:p>
            <a:pPr indent="0" lvl="0" marL="457200" rtl="0" algn="l">
              <a:spcBef>
                <a:spcPts val="0"/>
              </a:spcBef>
              <a:spcAft>
                <a:spcPts val="0"/>
              </a:spcAft>
              <a:buNone/>
            </a:pPr>
            <a:r>
              <a:t/>
            </a:r>
            <a:endParaRPr sz="1300">
              <a:solidFill>
                <a:srgbClr val="DCE1E6"/>
              </a:solidFill>
              <a:latin typeface="Calibri"/>
              <a:ea typeface="Calibri"/>
              <a:cs typeface="Calibri"/>
              <a:sym typeface="Calibri"/>
            </a:endParaRPr>
          </a:p>
          <a:p>
            <a:pPr indent="-311150" lvl="0" marL="457200" rtl="0" algn="l">
              <a:spcBef>
                <a:spcPts val="0"/>
              </a:spcBef>
              <a:spcAft>
                <a:spcPts val="0"/>
              </a:spcAft>
              <a:buClr>
                <a:srgbClr val="DCE1E6"/>
              </a:buClr>
              <a:buSzPts val="1300"/>
              <a:buFont typeface="Calibri"/>
              <a:buChar char="●"/>
            </a:pPr>
            <a:r>
              <a:rPr lang="en-US" sz="1300">
                <a:solidFill>
                  <a:srgbClr val="DCE1E6"/>
                </a:solidFill>
                <a:latin typeface="Calibri"/>
                <a:ea typeface="Calibri"/>
                <a:cs typeface="Calibri"/>
                <a:sym typeface="Calibri"/>
              </a:rPr>
              <a:t>Ключовата дума е въведена заради backward </a:t>
            </a:r>
            <a:r>
              <a:rPr lang="en-US" sz="1300">
                <a:solidFill>
                  <a:srgbClr val="DCE1E6"/>
                </a:solidFill>
                <a:latin typeface="Calibri"/>
                <a:ea typeface="Calibri"/>
                <a:cs typeface="Calibri"/>
                <a:sym typeface="Calibri"/>
              </a:rPr>
              <a:t>compatibility</a:t>
            </a:r>
            <a:r>
              <a:rPr lang="en-US" sz="1300">
                <a:solidFill>
                  <a:srgbClr val="DCE1E6"/>
                </a:solidFill>
                <a:latin typeface="Calibri"/>
                <a:ea typeface="Calibri"/>
                <a:cs typeface="Calibri"/>
                <a:sym typeface="Calibri"/>
              </a:rPr>
              <a:t> със езика за програмиране С</a:t>
            </a:r>
            <a:endParaRPr sz="1300">
              <a:solidFill>
                <a:srgbClr val="DCE1E6"/>
              </a:solidFill>
              <a:latin typeface="Calibri"/>
              <a:ea typeface="Calibri"/>
              <a:cs typeface="Calibri"/>
              <a:sym typeface="Calibri"/>
            </a:endParaRPr>
          </a:p>
          <a:p>
            <a:pPr indent="0" lvl="0" marL="457200" rtl="0" algn="l">
              <a:spcBef>
                <a:spcPts val="0"/>
              </a:spcBef>
              <a:spcAft>
                <a:spcPts val="0"/>
              </a:spcAft>
              <a:buNone/>
            </a:pPr>
            <a:r>
              <a:t/>
            </a:r>
            <a:endParaRPr sz="1300">
              <a:solidFill>
                <a:srgbClr val="DCE1E6"/>
              </a:solidFill>
              <a:latin typeface="Calibri"/>
              <a:ea typeface="Calibri"/>
              <a:cs typeface="Calibri"/>
              <a:sym typeface="Calibri"/>
            </a:endParaRPr>
          </a:p>
          <a:p>
            <a:pPr indent="-311150" lvl="0" marL="457200" rtl="0" algn="l">
              <a:spcBef>
                <a:spcPts val="0"/>
              </a:spcBef>
              <a:spcAft>
                <a:spcPts val="0"/>
              </a:spcAft>
              <a:buClr>
                <a:srgbClr val="DCE1E6"/>
              </a:buClr>
              <a:buSzPts val="1300"/>
              <a:buFont typeface="Calibri"/>
              <a:buChar char="●"/>
            </a:pPr>
            <a:r>
              <a:rPr lang="en-US" sz="1300">
                <a:solidFill>
                  <a:srgbClr val="DCE1E6"/>
                </a:solidFill>
                <a:latin typeface="Calibri"/>
                <a:ea typeface="Calibri"/>
                <a:cs typeface="Calibri"/>
                <a:sym typeface="Calibri"/>
              </a:rPr>
              <a:t>Елементите, наричани още членове, могат да бъдат от различен тип(int, int[], bool и т.н.) и с различна големина</a:t>
            </a:r>
            <a:endParaRPr sz="1300">
              <a:solidFill>
                <a:srgbClr val="DCE1E6"/>
              </a:solidFill>
              <a:latin typeface="Calibri"/>
              <a:ea typeface="Calibri"/>
              <a:cs typeface="Calibri"/>
              <a:sym typeface="Calibri"/>
            </a:endParaRPr>
          </a:p>
          <a:p>
            <a:pPr indent="0" lvl="0" marL="457200" rtl="0" algn="l">
              <a:spcBef>
                <a:spcPts val="0"/>
              </a:spcBef>
              <a:spcAft>
                <a:spcPts val="0"/>
              </a:spcAft>
              <a:buNone/>
            </a:pPr>
            <a:r>
              <a:t/>
            </a:r>
            <a:endParaRPr sz="1300">
              <a:solidFill>
                <a:srgbClr val="DCE1E6"/>
              </a:solidFill>
              <a:latin typeface="Calibri"/>
              <a:ea typeface="Calibri"/>
              <a:cs typeface="Calibri"/>
              <a:sym typeface="Calibri"/>
            </a:endParaRPr>
          </a:p>
          <a:p>
            <a:pPr indent="-311150" lvl="0" marL="457200" rtl="0" algn="l">
              <a:spcBef>
                <a:spcPts val="0"/>
              </a:spcBef>
              <a:spcAft>
                <a:spcPts val="0"/>
              </a:spcAft>
              <a:buClr>
                <a:srgbClr val="DCE1E6"/>
              </a:buClr>
              <a:buSzPts val="1300"/>
              <a:buFont typeface="Calibri"/>
              <a:buChar char="●"/>
            </a:pPr>
            <a:r>
              <a:rPr lang="en-US" sz="1300">
                <a:solidFill>
                  <a:srgbClr val="DCE1E6"/>
                </a:solidFill>
                <a:latin typeface="Calibri"/>
                <a:ea typeface="Calibri"/>
                <a:cs typeface="Calibri"/>
                <a:sym typeface="Calibri"/>
              </a:rPr>
              <a:t>Единствената разлика с клас е, че при него видимостта на променливите е public  а при класа - private</a:t>
            </a:r>
            <a:endParaRPr sz="1300">
              <a:solidFill>
                <a:srgbClr val="DCE1E6"/>
              </a:solidFill>
              <a:latin typeface="Calibri"/>
              <a:ea typeface="Calibri"/>
              <a:cs typeface="Calibri"/>
              <a:sym typeface="Calibri"/>
            </a:endParaRPr>
          </a:p>
          <a:p>
            <a:pPr indent="0" lvl="0" marL="0" rtl="0" algn="l">
              <a:spcBef>
                <a:spcPts val="0"/>
              </a:spcBef>
              <a:spcAft>
                <a:spcPts val="0"/>
              </a:spcAft>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3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300">
              <a:solidFill>
                <a:srgbClr val="DCE1E6"/>
              </a:solidFill>
              <a:latin typeface="Calibri"/>
              <a:ea typeface="Calibri"/>
              <a:cs typeface="Calibri"/>
              <a:sym typeface="Calibri"/>
            </a:endParaRPr>
          </a:p>
        </p:txBody>
      </p:sp>
      <p:sp>
        <p:nvSpPr>
          <p:cNvPr id="195" name="Google Shape;195;p27"/>
          <p:cNvSpPr/>
          <p:nvPr/>
        </p:nvSpPr>
        <p:spPr>
          <a:xfrm>
            <a:off x="6400800" y="548640"/>
            <a:ext cx="5212200" cy="4937700"/>
          </a:xfrm>
          <a:prstGeom prst="roundRect">
            <a:avLst>
              <a:gd fmla="val 16667" name="adj"/>
            </a:avLst>
          </a:prstGeom>
          <a:solidFill>
            <a:srgbClr val="12181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27"/>
          <p:cNvSpPr txBox="1"/>
          <p:nvPr/>
        </p:nvSpPr>
        <p:spPr>
          <a:xfrm>
            <a:off x="6537950" y="685800"/>
            <a:ext cx="4937700" cy="5448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struct Box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double height;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double width;</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double length;</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	// double height, width, length; is also possible</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200">
                <a:solidFill>
                  <a:srgbClr val="DCE6F0"/>
                </a:solidFill>
                <a:latin typeface="Consolas"/>
                <a:ea typeface="Consolas"/>
                <a:cs typeface="Consolas"/>
                <a:sym typeface="Consolas"/>
              </a:rPr>
              <a:t>//Initialization:</a:t>
            </a:r>
            <a:endParaRPr sz="1200">
              <a:solidFill>
                <a:srgbClr val="DCE6F0"/>
              </a:solidFill>
              <a:latin typeface="Consolas"/>
              <a:ea typeface="Consolas"/>
              <a:cs typeface="Consolas"/>
              <a:sym typeface="Consolas"/>
            </a:endParaRPr>
          </a:p>
          <a:p>
            <a:pPr indent="-304800" lvl="0" marL="457200" rtl="0" algn="l">
              <a:spcBef>
                <a:spcPts val="0"/>
              </a:spcBef>
              <a:spcAft>
                <a:spcPts val="0"/>
              </a:spcAft>
              <a:buClr>
                <a:srgbClr val="DCE6F0"/>
              </a:buClr>
              <a:buSzPts val="1200"/>
              <a:buFont typeface="Consolas"/>
              <a:buAutoNum type="arabicParenR"/>
            </a:pPr>
            <a:r>
              <a:rPr lang="en-US" sz="1200">
                <a:solidFill>
                  <a:srgbClr val="DCE6F0"/>
                </a:solidFill>
                <a:latin typeface="Consolas"/>
                <a:ea typeface="Consolas"/>
                <a:cs typeface="Consolas"/>
                <a:sym typeface="Consolas"/>
              </a:rPr>
              <a:t>Box b; //dangerous </a:t>
            </a:r>
            <a:r>
              <a:rPr lang="en-US" sz="1200">
                <a:solidFill>
                  <a:srgbClr val="DCE6F0"/>
                </a:solidFill>
                <a:latin typeface="Consolas"/>
                <a:ea typeface="Consolas"/>
                <a:cs typeface="Consolas"/>
                <a:sym typeface="Consolas"/>
              </a:rPr>
              <a:t>uninitialized.</a:t>
            </a:r>
            <a:endParaRPr sz="1200">
              <a:solidFill>
                <a:srgbClr val="DCE6F0"/>
              </a:solidFill>
              <a:latin typeface="Consolas"/>
              <a:ea typeface="Consolas"/>
              <a:cs typeface="Consolas"/>
              <a:sym typeface="Consolas"/>
            </a:endParaRPr>
          </a:p>
          <a:p>
            <a:pPr indent="-304800" lvl="0" marL="457200" rtl="0" algn="l">
              <a:spcBef>
                <a:spcPts val="0"/>
              </a:spcBef>
              <a:spcAft>
                <a:spcPts val="0"/>
              </a:spcAft>
              <a:buClr>
                <a:srgbClr val="DCE6F0"/>
              </a:buClr>
              <a:buSzPts val="1200"/>
              <a:buFont typeface="Consolas"/>
              <a:buAutoNum type="arabicParenR"/>
            </a:pPr>
            <a:r>
              <a:rPr lang="en-US" sz="1200">
                <a:solidFill>
                  <a:srgbClr val="DCE6F0"/>
                </a:solidFill>
                <a:latin typeface="Consolas"/>
                <a:ea typeface="Consolas"/>
                <a:cs typeface="Consolas"/>
                <a:sym typeface="Consolas"/>
              </a:rPr>
              <a:t>Box b{}; // safe default - all are 0.</a:t>
            </a:r>
            <a:endParaRPr sz="1200">
              <a:solidFill>
                <a:srgbClr val="DCE6F0"/>
              </a:solidFill>
              <a:latin typeface="Consolas"/>
              <a:ea typeface="Consolas"/>
              <a:cs typeface="Consolas"/>
              <a:sym typeface="Consolas"/>
            </a:endParaRPr>
          </a:p>
          <a:p>
            <a:pPr indent="-304800" lvl="0" marL="457200" rtl="0" algn="l">
              <a:spcBef>
                <a:spcPts val="0"/>
              </a:spcBef>
              <a:spcAft>
                <a:spcPts val="0"/>
              </a:spcAft>
              <a:buClr>
                <a:srgbClr val="DCE6F0"/>
              </a:buClr>
              <a:buSzPts val="1200"/>
              <a:buFont typeface="Consolas"/>
              <a:buAutoNum type="arabicParenR"/>
            </a:pPr>
            <a:r>
              <a:rPr lang="en-US" sz="1200">
                <a:solidFill>
                  <a:srgbClr val="DCE6F0"/>
                </a:solidFill>
                <a:latin typeface="Consolas"/>
                <a:ea typeface="Consolas"/>
                <a:cs typeface="Consolas"/>
                <a:sym typeface="Consolas"/>
              </a:rPr>
              <a:t>Box b{10.0, 5.0, 2.0}; //order matters</a:t>
            </a:r>
            <a:endParaRPr sz="1200">
              <a:solidFill>
                <a:srgbClr val="DCE6F0"/>
              </a:solidFill>
              <a:latin typeface="Consolas"/>
              <a:ea typeface="Consolas"/>
              <a:cs typeface="Consolas"/>
              <a:sym typeface="Consolas"/>
            </a:endParaRPr>
          </a:p>
          <a:p>
            <a:pPr indent="-304800" lvl="0" marL="457200" rtl="0" algn="l">
              <a:spcBef>
                <a:spcPts val="0"/>
              </a:spcBef>
              <a:spcAft>
                <a:spcPts val="0"/>
              </a:spcAft>
              <a:buClr>
                <a:srgbClr val="DCE6F0"/>
              </a:buClr>
              <a:buSzPts val="1200"/>
              <a:buFont typeface="Consolas"/>
              <a:buAutoNum type="arabicParenR"/>
            </a:pPr>
            <a:r>
              <a:rPr lang="en-US" sz="1200">
                <a:solidFill>
                  <a:srgbClr val="DCE6F0"/>
                </a:solidFill>
                <a:latin typeface="Consolas"/>
                <a:ea typeface="Consolas"/>
                <a:cs typeface="Consolas"/>
                <a:sym typeface="Consolas"/>
              </a:rPr>
              <a:t>Box b{10.0}; //height=10.0, width=0, length=0</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t/>
            </a:r>
            <a:endParaRPr sz="1200">
              <a:solidFill>
                <a:srgbClr val="DCE6F0"/>
              </a:solidFill>
              <a:latin typeface="Consolas"/>
              <a:ea typeface="Consolas"/>
              <a:cs typeface="Consolas"/>
              <a:sym typeface="Consolas"/>
            </a:endParaRPr>
          </a:p>
          <a:p>
            <a:pPr indent="-304800" lvl="0" marL="457200" rtl="0" algn="l">
              <a:spcBef>
                <a:spcPts val="0"/>
              </a:spcBef>
              <a:spcAft>
                <a:spcPts val="0"/>
              </a:spcAft>
              <a:buClr>
                <a:srgbClr val="DCE6F0"/>
              </a:buClr>
              <a:buSzPts val="1200"/>
              <a:buFont typeface="Consolas"/>
              <a:buAutoNum type="arabicParenR"/>
            </a:pPr>
            <a:r>
              <a:rPr lang="en-US" sz="1200">
                <a:solidFill>
                  <a:srgbClr val="DCE6F0"/>
                </a:solidFill>
                <a:latin typeface="Consolas"/>
                <a:ea typeface="Consolas"/>
                <a:cs typeface="Consolas"/>
                <a:sym typeface="Consolas"/>
              </a:rPr>
              <a:t>modern C++ 20: </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rPr lang="en-US" sz="1200">
                <a:solidFill>
                  <a:srgbClr val="DCE6F0"/>
                </a:solidFill>
                <a:latin typeface="Consolas"/>
                <a:ea typeface="Consolas"/>
                <a:cs typeface="Consolas"/>
                <a:sym typeface="Consolas"/>
              </a:rPr>
              <a:t>Box b{</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rPr lang="en-US" sz="1200">
                <a:solidFill>
                  <a:srgbClr val="DCE6F0"/>
                </a:solidFill>
                <a:latin typeface="Consolas"/>
                <a:ea typeface="Consolas"/>
                <a:cs typeface="Consolas"/>
                <a:sym typeface="Consolas"/>
              </a:rPr>
              <a:t>    .height = 10.0,</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rPr lang="en-US" sz="1200">
                <a:solidFill>
                  <a:srgbClr val="DCE6F0"/>
                </a:solidFill>
                <a:latin typeface="Consolas"/>
                <a:ea typeface="Consolas"/>
                <a:cs typeface="Consolas"/>
                <a:sym typeface="Consolas"/>
              </a:rPr>
              <a:t>    .width  = 5.0,</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rPr lang="en-US" sz="1200">
                <a:solidFill>
                  <a:srgbClr val="DCE6F0"/>
                </a:solidFill>
                <a:latin typeface="Consolas"/>
                <a:ea typeface="Consolas"/>
                <a:cs typeface="Consolas"/>
                <a:sym typeface="Consolas"/>
              </a:rPr>
              <a:t>    .length = 2.0</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200" name="Shape 200"/>
        <p:cNvGrpSpPr/>
        <p:nvPr/>
      </p:nvGrpSpPr>
      <p:grpSpPr>
        <a:xfrm>
          <a:off x="0" y="0"/>
          <a:ext cx="0" cy="0"/>
          <a:chOff x="0" y="0"/>
          <a:chExt cx="0" cy="0"/>
        </a:xfrm>
      </p:grpSpPr>
      <p:sp>
        <p:nvSpPr>
          <p:cNvPr id="201" name="Google Shape;201;p28"/>
          <p:cNvSpPr txBox="1"/>
          <p:nvPr/>
        </p:nvSpPr>
        <p:spPr>
          <a:xfrm>
            <a:off x="548640" y="365760"/>
            <a:ext cx="10881300" cy="446400"/>
          </a:xfrm>
          <a:prstGeom prst="rect">
            <a:avLst/>
          </a:prstGeom>
          <a:noFill/>
          <a:ln>
            <a:noFill/>
          </a:ln>
        </p:spPr>
        <p:txBody>
          <a:bodyPr anchorCtr="0" anchor="t" bIns="45700" lIns="91425" spcFirstLastPara="1" rIns="91425" wrap="square" tIns="45700">
            <a:spAutoFit/>
          </a:bodyPr>
          <a:lstStyle/>
          <a:p>
            <a:pPr indent="0" lvl="0" marL="2743200" marR="0" rtl="0" algn="l">
              <a:spcBef>
                <a:spcPts val="0"/>
              </a:spcBef>
              <a:spcAft>
                <a:spcPts val="0"/>
              </a:spcAft>
              <a:buNone/>
            </a:pPr>
            <a:r>
              <a:rPr lang="en-US" sz="2300">
                <a:solidFill>
                  <a:srgbClr val="DCE1E6"/>
                </a:solidFill>
                <a:latin typeface="Calibri"/>
                <a:ea typeface="Calibri"/>
                <a:cs typeface="Calibri"/>
                <a:sym typeface="Calibri"/>
              </a:rPr>
              <a:t> Подаване на структури във функции</a:t>
            </a:r>
            <a:endParaRPr sz="1700"/>
          </a:p>
        </p:txBody>
      </p:sp>
      <p:sp>
        <p:nvSpPr>
          <p:cNvPr id="202" name="Google Shape;202;p28"/>
          <p:cNvSpPr/>
          <p:nvPr/>
        </p:nvSpPr>
        <p:spPr>
          <a:xfrm>
            <a:off x="548640" y="1097280"/>
            <a:ext cx="3108900" cy="2011800"/>
          </a:xfrm>
          <a:prstGeom prst="roundRect">
            <a:avLst>
              <a:gd fmla="val 16667" name="adj"/>
            </a:avLst>
          </a:prstGeom>
          <a:solidFill>
            <a:srgbClr val="0A1E3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3" name="Google Shape;203;p28"/>
          <p:cNvSpPr txBox="1"/>
          <p:nvPr/>
        </p:nvSpPr>
        <p:spPr>
          <a:xfrm>
            <a:off x="685675" y="989575"/>
            <a:ext cx="2834700" cy="338700"/>
          </a:xfrm>
          <a:prstGeom prst="rect">
            <a:avLst/>
          </a:prstGeom>
          <a:noFill/>
          <a:ln>
            <a:noFill/>
          </a:ln>
        </p:spPr>
        <p:txBody>
          <a:bodyPr anchorCtr="0" anchor="t" bIns="45700" lIns="91425" spcFirstLastPara="1" rIns="91425" wrap="square" tIns="45700">
            <a:spAutoFit/>
          </a:bodyPr>
          <a:lstStyle/>
          <a:p>
            <a:pPr indent="457200" lvl="0" marL="0" marR="0" rtl="0" algn="l">
              <a:spcBef>
                <a:spcPts val="0"/>
              </a:spcBef>
              <a:spcAft>
                <a:spcPts val="0"/>
              </a:spcAft>
              <a:buNone/>
            </a:pPr>
            <a:r>
              <a:rPr b="1" lang="en-US" sz="1600">
                <a:solidFill>
                  <a:srgbClr val="00B4D7"/>
                </a:solidFill>
                <a:latin typeface="Calibri"/>
                <a:ea typeface="Calibri"/>
                <a:cs typeface="Calibri"/>
                <a:sym typeface="Calibri"/>
              </a:rPr>
              <a:t>константна референция</a:t>
            </a:r>
            <a:endParaRPr/>
          </a:p>
        </p:txBody>
      </p:sp>
      <p:sp>
        <p:nvSpPr>
          <p:cNvPr id="204" name="Google Shape;204;p28"/>
          <p:cNvSpPr txBox="1"/>
          <p:nvPr/>
        </p:nvSpPr>
        <p:spPr>
          <a:xfrm>
            <a:off x="685675" y="1366150"/>
            <a:ext cx="2834700" cy="2277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rPr lang="en-US" sz="1300">
                <a:solidFill>
                  <a:srgbClr val="DCE1E6"/>
                </a:solidFill>
                <a:latin typeface="Calibri"/>
                <a:ea typeface="Calibri"/>
                <a:cs typeface="Calibri"/>
                <a:sym typeface="Calibri"/>
              </a:rPr>
              <a:t>Ако няма да променяме обекта го подаваме по константна референция!</a:t>
            </a:r>
            <a:endParaRPr sz="13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double calculateVolume(const Box&amp; b) {</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   return b.height * b.width * b.length;</a:t>
            </a:r>
            <a:endParaRPr sz="1300">
              <a:solidFill>
                <a:srgbClr val="DCE1E6"/>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300">
                <a:solidFill>
                  <a:srgbClr val="DCE1E6"/>
                </a:solidFill>
                <a:latin typeface="Calibri"/>
                <a:ea typeface="Calibri"/>
                <a:cs typeface="Calibri"/>
                <a:sym typeface="Calibri"/>
              </a:rPr>
              <a:t>}</a:t>
            </a:r>
            <a:endParaRPr sz="1300">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p:txBody>
      </p:sp>
      <p:sp>
        <p:nvSpPr>
          <p:cNvPr id="205" name="Google Shape;205;p28"/>
          <p:cNvSpPr/>
          <p:nvPr/>
        </p:nvSpPr>
        <p:spPr>
          <a:xfrm>
            <a:off x="3840475" y="1097268"/>
            <a:ext cx="3108900" cy="4733700"/>
          </a:xfrm>
          <a:prstGeom prst="roundRect">
            <a:avLst>
              <a:gd fmla="val 16667" name="adj"/>
            </a:avLst>
          </a:prstGeom>
          <a:solidFill>
            <a:srgbClr val="0A1E3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6" name="Google Shape;206;p28"/>
          <p:cNvSpPr txBox="1"/>
          <p:nvPr/>
        </p:nvSpPr>
        <p:spPr>
          <a:xfrm>
            <a:off x="3977600" y="923225"/>
            <a:ext cx="2834700" cy="33870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1600">
                <a:solidFill>
                  <a:srgbClr val="00B4D7"/>
                </a:solidFill>
                <a:latin typeface="Calibri"/>
                <a:ea typeface="Calibri"/>
                <a:cs typeface="Calibri"/>
                <a:sym typeface="Calibri"/>
              </a:rPr>
              <a:t>референция</a:t>
            </a:r>
            <a:endParaRPr/>
          </a:p>
        </p:txBody>
      </p:sp>
      <p:sp>
        <p:nvSpPr>
          <p:cNvPr id="207" name="Google Shape;207;p28"/>
          <p:cNvSpPr txBox="1"/>
          <p:nvPr/>
        </p:nvSpPr>
        <p:spPr>
          <a:xfrm>
            <a:off x="3977600" y="1435974"/>
            <a:ext cx="2834700" cy="2401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a:solidFill>
                  <a:srgbClr val="DCE1E6"/>
                </a:solidFill>
                <a:latin typeface="Calibri"/>
                <a:ea typeface="Calibri"/>
                <a:cs typeface="Calibri"/>
                <a:sym typeface="Calibri"/>
              </a:rPr>
              <a:t>Може и само по референция, но тогава може да се правят промени върху подадения аргумент.</a:t>
            </a:r>
            <a:endParaRPr>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a:solidFill>
                  <a:srgbClr val="DCE1E6"/>
                </a:solidFill>
                <a:latin typeface="Calibri"/>
                <a:ea typeface="Calibri"/>
                <a:cs typeface="Calibri"/>
                <a:sym typeface="Calibri"/>
              </a:rPr>
              <a:t>void readBox(Box&amp; b) {</a:t>
            </a:r>
            <a:endParaRPr>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a:solidFill>
                  <a:srgbClr val="DCE1E6"/>
                </a:solidFill>
                <a:latin typeface="Calibri"/>
                <a:ea typeface="Calibri"/>
                <a:cs typeface="Calibri"/>
                <a:sym typeface="Calibri"/>
              </a:rPr>
              <a:t>   cin &gt;&gt; b.height &gt;&gt; b.width &gt;&gt; b.length;</a:t>
            </a:r>
            <a:endParaRPr>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a:solidFill>
                  <a:srgbClr val="DCE1E6"/>
                </a:solidFill>
                <a:latin typeface="Calibri"/>
                <a:ea typeface="Calibri"/>
                <a:cs typeface="Calibri"/>
                <a:sym typeface="Calibri"/>
              </a:rPr>
              <a:t>}</a:t>
            </a:r>
            <a:endParaRPr>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p:txBody>
      </p:sp>
      <p:sp>
        <p:nvSpPr>
          <p:cNvPr id="208" name="Google Shape;208;p28"/>
          <p:cNvSpPr/>
          <p:nvPr/>
        </p:nvSpPr>
        <p:spPr>
          <a:xfrm>
            <a:off x="7132320" y="1097280"/>
            <a:ext cx="3108900" cy="2011800"/>
          </a:xfrm>
          <a:prstGeom prst="roundRect">
            <a:avLst>
              <a:gd fmla="val 16667" name="adj"/>
            </a:avLst>
          </a:prstGeom>
          <a:solidFill>
            <a:srgbClr val="0A1E3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28"/>
          <p:cNvSpPr txBox="1"/>
          <p:nvPr/>
        </p:nvSpPr>
        <p:spPr>
          <a:xfrm>
            <a:off x="7269475" y="903527"/>
            <a:ext cx="2834700" cy="338700"/>
          </a:xfrm>
          <a:prstGeom prst="rect">
            <a:avLst/>
          </a:prstGeom>
          <a:noFill/>
          <a:ln>
            <a:noFill/>
          </a:ln>
        </p:spPr>
        <p:txBody>
          <a:bodyPr anchorCtr="0" anchor="t" bIns="45700" lIns="91425" spcFirstLastPara="1" rIns="91425" wrap="square" tIns="45700">
            <a:spAutoFit/>
          </a:bodyPr>
          <a:lstStyle/>
          <a:p>
            <a:pPr indent="457200" lvl="0" marL="457200" marR="0" rtl="0" algn="l">
              <a:spcBef>
                <a:spcPts val="0"/>
              </a:spcBef>
              <a:spcAft>
                <a:spcPts val="0"/>
              </a:spcAft>
              <a:buNone/>
            </a:pPr>
            <a:r>
              <a:rPr b="1" lang="en-US" sz="1600">
                <a:solidFill>
                  <a:srgbClr val="00B4D7"/>
                </a:solidFill>
                <a:latin typeface="Calibri"/>
                <a:ea typeface="Calibri"/>
                <a:cs typeface="Calibri"/>
                <a:sym typeface="Calibri"/>
              </a:rPr>
              <a:t>копие</a:t>
            </a:r>
            <a:endParaRPr/>
          </a:p>
        </p:txBody>
      </p:sp>
      <p:sp>
        <p:nvSpPr>
          <p:cNvPr id="210" name="Google Shape;210;p28"/>
          <p:cNvSpPr txBox="1"/>
          <p:nvPr/>
        </p:nvSpPr>
        <p:spPr>
          <a:xfrm>
            <a:off x="7269475" y="1435975"/>
            <a:ext cx="2834700" cy="21240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SzPts val="1100"/>
              <a:buNone/>
            </a:pPr>
            <a:r>
              <a:rPr lang="en-US" sz="1200">
                <a:solidFill>
                  <a:srgbClr val="DCE1E6"/>
                </a:solidFill>
                <a:latin typeface="Calibri"/>
                <a:ea typeface="Calibri"/>
                <a:cs typeface="Calibri"/>
                <a:sym typeface="Calibri"/>
              </a:rPr>
              <a:t>Предаване по копие:</a:t>
            </a:r>
            <a:br>
              <a:rPr lang="en-US" sz="1200">
                <a:solidFill>
                  <a:srgbClr val="DCE1E6"/>
                </a:solidFill>
                <a:latin typeface="Calibri"/>
                <a:ea typeface="Calibri"/>
                <a:cs typeface="Calibri"/>
                <a:sym typeface="Calibri"/>
              </a:rPr>
            </a:br>
            <a:br>
              <a:rPr lang="en-US" sz="1200">
                <a:solidFill>
                  <a:srgbClr val="DCE1E6"/>
                </a:solidFill>
                <a:latin typeface="Calibri"/>
                <a:ea typeface="Calibri"/>
                <a:cs typeface="Calibri"/>
                <a:sym typeface="Calibri"/>
              </a:rPr>
            </a:br>
            <a:r>
              <a:rPr lang="en-US" sz="1200">
                <a:solidFill>
                  <a:srgbClr val="DCE1E6"/>
                </a:solidFill>
                <a:latin typeface="Calibri"/>
                <a:ea typeface="Calibri"/>
                <a:cs typeface="Calibri"/>
                <a:sym typeface="Calibri"/>
              </a:rPr>
              <a:t>Box revertBox(Box b) {</a:t>
            </a:r>
            <a:endParaRPr sz="12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200">
                <a:solidFill>
                  <a:srgbClr val="DCE1E6"/>
                </a:solidFill>
                <a:latin typeface="Calibri"/>
                <a:ea typeface="Calibri"/>
                <a:cs typeface="Calibri"/>
                <a:sym typeface="Calibri"/>
              </a:rPr>
              <a:t>   int temp = b.height;</a:t>
            </a:r>
            <a:endParaRPr sz="12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200">
                <a:solidFill>
                  <a:srgbClr val="DCE1E6"/>
                </a:solidFill>
                <a:latin typeface="Calibri"/>
                <a:ea typeface="Calibri"/>
                <a:cs typeface="Calibri"/>
                <a:sym typeface="Calibri"/>
              </a:rPr>
              <a:t>   b.height = b.width;</a:t>
            </a:r>
            <a:endParaRPr sz="12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200">
                <a:solidFill>
                  <a:srgbClr val="DCE1E6"/>
                </a:solidFill>
                <a:latin typeface="Calibri"/>
                <a:ea typeface="Calibri"/>
                <a:cs typeface="Calibri"/>
                <a:sym typeface="Calibri"/>
              </a:rPr>
              <a:t>   b.width = temp;</a:t>
            </a:r>
            <a:endParaRPr sz="12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2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200">
                <a:solidFill>
                  <a:srgbClr val="DCE1E6"/>
                </a:solidFill>
                <a:latin typeface="Calibri"/>
                <a:ea typeface="Calibri"/>
                <a:cs typeface="Calibri"/>
                <a:sym typeface="Calibri"/>
              </a:rPr>
              <a:t>   return b;</a:t>
            </a:r>
            <a:endParaRPr sz="1200">
              <a:solidFill>
                <a:srgbClr val="DCE1E6"/>
              </a:solidFill>
              <a:latin typeface="Calibri"/>
              <a:ea typeface="Calibri"/>
              <a:cs typeface="Calibri"/>
              <a:sym typeface="Calibri"/>
            </a:endParaRPr>
          </a:p>
          <a:p>
            <a:pPr indent="0" lvl="0" marL="0" rtl="0" algn="l">
              <a:spcBef>
                <a:spcPts val="0"/>
              </a:spcBef>
              <a:spcAft>
                <a:spcPts val="0"/>
              </a:spcAft>
              <a:buSzPts val="1100"/>
              <a:buNone/>
            </a:pPr>
            <a:r>
              <a:rPr lang="en-US" sz="1200">
                <a:solidFill>
                  <a:srgbClr val="DCE1E6"/>
                </a:solidFill>
                <a:latin typeface="Calibri"/>
                <a:ea typeface="Calibri"/>
                <a:cs typeface="Calibri"/>
                <a:sym typeface="Calibri"/>
              </a:rPr>
              <a:t>}</a:t>
            </a:r>
            <a:endParaRPr sz="12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2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200">
              <a:solidFill>
                <a:srgbClr val="DCE1E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214" name="Shape 214"/>
        <p:cNvGrpSpPr/>
        <p:nvPr/>
      </p:nvGrpSpPr>
      <p:grpSpPr>
        <a:xfrm>
          <a:off x="0" y="0"/>
          <a:ext cx="0" cy="0"/>
          <a:chOff x="0" y="0"/>
          <a:chExt cx="0" cy="0"/>
        </a:xfrm>
      </p:grpSpPr>
      <p:sp>
        <p:nvSpPr>
          <p:cNvPr id="215" name="Google Shape;215;p29"/>
          <p:cNvSpPr txBox="1"/>
          <p:nvPr/>
        </p:nvSpPr>
        <p:spPr>
          <a:xfrm>
            <a:off x="548640" y="274320"/>
            <a:ext cx="10881300" cy="430800"/>
          </a:xfrm>
          <a:prstGeom prst="rect">
            <a:avLst/>
          </a:prstGeom>
          <a:noFill/>
          <a:ln>
            <a:noFill/>
          </a:ln>
        </p:spPr>
        <p:txBody>
          <a:bodyPr anchorCtr="0" anchor="t" bIns="45700" lIns="91425" spcFirstLastPara="1" rIns="91425" wrap="square" tIns="45700">
            <a:spAutoFit/>
          </a:bodyPr>
          <a:lstStyle/>
          <a:p>
            <a:pPr indent="457200" lvl="0" marL="2286000" marR="0" rtl="0" algn="l">
              <a:spcBef>
                <a:spcPts val="0"/>
              </a:spcBef>
              <a:spcAft>
                <a:spcPts val="0"/>
              </a:spcAft>
              <a:buNone/>
            </a:pPr>
            <a:r>
              <a:rPr lang="en-US" sz="2200">
                <a:solidFill>
                  <a:srgbClr val="DCE1E6"/>
                </a:solidFill>
                <a:latin typeface="Calibri"/>
                <a:ea typeface="Calibri"/>
                <a:cs typeface="Calibri"/>
                <a:sym typeface="Calibri"/>
              </a:rPr>
              <a:t>Създаване на динамични обекти</a:t>
            </a:r>
            <a:endParaRPr/>
          </a:p>
        </p:txBody>
      </p:sp>
      <p:sp>
        <p:nvSpPr>
          <p:cNvPr id="216" name="Google Shape;216;p29"/>
          <p:cNvSpPr/>
          <p:nvPr/>
        </p:nvSpPr>
        <p:spPr>
          <a:xfrm>
            <a:off x="548640" y="914400"/>
            <a:ext cx="10058400" cy="5212200"/>
          </a:xfrm>
          <a:prstGeom prst="roundRect">
            <a:avLst>
              <a:gd fmla="val 16667" name="adj"/>
            </a:avLst>
          </a:prstGeom>
          <a:solidFill>
            <a:srgbClr val="12181F"/>
          </a:solidFill>
          <a:ln cap="flat" cmpd="sng" w="9525">
            <a:solidFill>
              <a:srgbClr val="282C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9"/>
          <p:cNvSpPr/>
          <p:nvPr/>
        </p:nvSpPr>
        <p:spPr>
          <a:xfrm>
            <a:off x="548640" y="914400"/>
            <a:ext cx="640200" cy="5212200"/>
          </a:xfrm>
          <a:prstGeom prst="rect">
            <a:avLst/>
          </a:prstGeom>
          <a:solidFill>
            <a:srgbClr val="181E2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9"/>
          <p:cNvSpPr txBox="1"/>
          <p:nvPr/>
        </p:nvSpPr>
        <p:spPr>
          <a:xfrm>
            <a:off x="594360" y="1051560"/>
            <a:ext cx="5487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9</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10</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19</a:t>
            </a:r>
            <a:endParaRPr b="0" i="0" sz="900" u="none" cap="none" strike="noStrike">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24</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25</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26</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27</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28</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29</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34</a:t>
            </a:r>
            <a:endParaRPr sz="900">
              <a:solidFill>
                <a:srgbClr val="828C96"/>
              </a:solidFill>
              <a:latin typeface="Consolas"/>
              <a:ea typeface="Consolas"/>
              <a:cs typeface="Consolas"/>
              <a:sym typeface="Consolas"/>
            </a:endParaRPr>
          </a:p>
        </p:txBody>
      </p:sp>
      <p:sp>
        <p:nvSpPr>
          <p:cNvPr id="219" name="Google Shape;219;p29"/>
          <p:cNvSpPr txBox="1"/>
          <p:nvPr/>
        </p:nvSpPr>
        <p:spPr>
          <a:xfrm>
            <a:off x="1325875" y="1051552"/>
            <a:ext cx="9144000" cy="4371300"/>
          </a:xfrm>
          <a:prstGeom prst="rect">
            <a:avLst/>
          </a:prstGeom>
          <a:noFill/>
          <a:ln>
            <a:noFill/>
          </a:ln>
        </p:spPr>
        <p:txBody>
          <a:bodyPr anchorCtr="0" anchor="t" bIns="45700" lIns="76200" spcFirstLastPara="1" rIns="91425" wrap="square" tIns="76200">
            <a:spAutoFit/>
          </a:bodyPr>
          <a:lstStyle/>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#include &lt;iostream&gt;</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struct Box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double height, width, length;</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double calculcateVolume(const Box&amp; b)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return b.height * b.width * b.length;</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int main()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Box* boxPtr = new Box();</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 different types of assigning a value to a property when you have a pointer</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(*boxPtr).height = 3;</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(*boxPtr).width = 1;</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boxPtr-&gt;length = 4;</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std::cout &lt;&lt; calculcateVolume(*boxPtr) &lt;&lt; std::endl;</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delete boxPtr; // allocated memory should always be deleted!</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return 0;</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223" name="Shape 223"/>
        <p:cNvGrpSpPr/>
        <p:nvPr/>
      </p:nvGrpSpPr>
      <p:grpSpPr>
        <a:xfrm>
          <a:off x="0" y="0"/>
          <a:ext cx="0" cy="0"/>
          <a:chOff x="0" y="0"/>
          <a:chExt cx="0" cy="0"/>
        </a:xfrm>
      </p:grpSpPr>
      <p:sp>
        <p:nvSpPr>
          <p:cNvPr id="224" name="Google Shape;224;p30"/>
          <p:cNvSpPr txBox="1"/>
          <p:nvPr/>
        </p:nvSpPr>
        <p:spPr>
          <a:xfrm>
            <a:off x="548640" y="274320"/>
            <a:ext cx="10881300" cy="430800"/>
          </a:xfrm>
          <a:prstGeom prst="rect">
            <a:avLst/>
          </a:prstGeom>
          <a:noFill/>
          <a:ln>
            <a:noFill/>
          </a:ln>
        </p:spPr>
        <p:txBody>
          <a:bodyPr anchorCtr="0" anchor="t" bIns="45700" lIns="91425" spcFirstLastPara="1" rIns="91425" wrap="square" tIns="45700">
            <a:spAutoFit/>
          </a:bodyPr>
          <a:lstStyle/>
          <a:p>
            <a:pPr indent="457200" lvl="0" marL="3657600" marR="0" rtl="0" algn="l">
              <a:spcBef>
                <a:spcPts val="0"/>
              </a:spcBef>
              <a:spcAft>
                <a:spcPts val="0"/>
              </a:spcAft>
              <a:buNone/>
            </a:pPr>
            <a:r>
              <a:rPr lang="en-US" sz="2200">
                <a:solidFill>
                  <a:srgbClr val="DCE1E6"/>
                </a:solidFill>
                <a:latin typeface="Calibri"/>
                <a:ea typeface="Calibri"/>
                <a:cs typeface="Calibri"/>
                <a:sym typeface="Calibri"/>
              </a:rPr>
              <a:t>Масиви от</a:t>
            </a:r>
            <a:r>
              <a:rPr lang="en-US" sz="2200">
                <a:solidFill>
                  <a:srgbClr val="DCE1E6"/>
                </a:solidFill>
                <a:latin typeface="Calibri"/>
                <a:ea typeface="Calibri"/>
                <a:cs typeface="Calibri"/>
                <a:sym typeface="Calibri"/>
              </a:rPr>
              <a:t> обекти</a:t>
            </a:r>
            <a:endParaRPr/>
          </a:p>
        </p:txBody>
      </p:sp>
      <p:sp>
        <p:nvSpPr>
          <p:cNvPr id="225" name="Google Shape;225;p30"/>
          <p:cNvSpPr/>
          <p:nvPr/>
        </p:nvSpPr>
        <p:spPr>
          <a:xfrm>
            <a:off x="548640" y="914400"/>
            <a:ext cx="10058400" cy="5212200"/>
          </a:xfrm>
          <a:prstGeom prst="roundRect">
            <a:avLst>
              <a:gd fmla="val 16667" name="adj"/>
            </a:avLst>
          </a:prstGeom>
          <a:solidFill>
            <a:srgbClr val="12181F"/>
          </a:solidFill>
          <a:ln cap="flat" cmpd="sng" w="9525">
            <a:solidFill>
              <a:srgbClr val="282C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6" name="Google Shape;226;p30"/>
          <p:cNvSpPr/>
          <p:nvPr/>
        </p:nvSpPr>
        <p:spPr>
          <a:xfrm>
            <a:off x="548640" y="914400"/>
            <a:ext cx="640200" cy="5212200"/>
          </a:xfrm>
          <a:prstGeom prst="rect">
            <a:avLst/>
          </a:prstGeom>
          <a:solidFill>
            <a:srgbClr val="181E2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30"/>
          <p:cNvSpPr txBox="1"/>
          <p:nvPr/>
        </p:nvSpPr>
        <p:spPr>
          <a:xfrm>
            <a:off x="594360" y="1051560"/>
            <a:ext cx="5487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9</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10</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19</a:t>
            </a:r>
            <a:endParaRPr b="0" i="0" sz="900" u="none" cap="none" strike="noStrike">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24</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25</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26</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27</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28</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29</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34</a:t>
            </a:r>
            <a:endParaRPr sz="900">
              <a:solidFill>
                <a:srgbClr val="828C96"/>
              </a:solidFill>
              <a:latin typeface="Consolas"/>
              <a:ea typeface="Consolas"/>
              <a:cs typeface="Consolas"/>
              <a:sym typeface="Consolas"/>
            </a:endParaRPr>
          </a:p>
        </p:txBody>
      </p:sp>
      <p:sp>
        <p:nvSpPr>
          <p:cNvPr id="228" name="Google Shape;228;p30"/>
          <p:cNvSpPr txBox="1"/>
          <p:nvPr/>
        </p:nvSpPr>
        <p:spPr>
          <a:xfrm>
            <a:off x="1325875" y="1051552"/>
            <a:ext cx="9144000" cy="4048200"/>
          </a:xfrm>
          <a:prstGeom prst="rect">
            <a:avLst/>
          </a:prstGeom>
          <a:noFill/>
          <a:ln>
            <a:noFill/>
          </a:ln>
        </p:spPr>
        <p:txBody>
          <a:bodyPr anchorCtr="0" anchor="t" bIns="45700" lIns="76200" spcFirstLastPara="1" rIns="91425" wrap="square" tIns="76200">
            <a:spAutoFit/>
          </a:bodyPr>
          <a:lstStyle/>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struct Box {</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   double height, width, length;</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int main() {</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   Box arr1[30]; // 30 boxes in the stack</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   Box* arr2 = new Box[20] // 20 boxes in dynamic memory and a pointer in the stack</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   </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   std::cout &lt;&lt; arr1[0].height &lt;&lt; " " &lt;&lt; arr2[3].width &lt;&lt; std::endl;</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   delete[] arr2;</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   return 0;</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500">
                <a:solidFill>
                  <a:srgbClr val="DCE6F0"/>
                </a:solidFill>
                <a:latin typeface="Consolas"/>
                <a:ea typeface="Consolas"/>
                <a:cs typeface="Consolas"/>
                <a:sym typeface="Consolas"/>
              </a:rPr>
              <a:t>}</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5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232" name="Shape 232"/>
        <p:cNvGrpSpPr/>
        <p:nvPr/>
      </p:nvGrpSpPr>
      <p:grpSpPr>
        <a:xfrm>
          <a:off x="0" y="0"/>
          <a:ext cx="0" cy="0"/>
          <a:chOff x="0" y="0"/>
          <a:chExt cx="0" cy="0"/>
        </a:xfrm>
      </p:grpSpPr>
      <p:sp>
        <p:nvSpPr>
          <p:cNvPr id="233" name="Google Shape;233;p31"/>
          <p:cNvSpPr/>
          <p:nvPr/>
        </p:nvSpPr>
        <p:spPr>
          <a:xfrm>
            <a:off x="548640" y="548640"/>
            <a:ext cx="5486400" cy="4937700"/>
          </a:xfrm>
          <a:prstGeom prst="roundRect">
            <a:avLst>
              <a:gd fmla="val 16667" name="adj"/>
            </a:avLst>
          </a:prstGeom>
          <a:solidFill>
            <a:srgbClr val="0B23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4" name="Google Shape;234;p31"/>
          <p:cNvSpPr txBox="1"/>
          <p:nvPr/>
        </p:nvSpPr>
        <p:spPr>
          <a:xfrm>
            <a:off x="731520" y="731520"/>
            <a:ext cx="512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4D7"/>
                </a:solidFill>
                <a:latin typeface="Calibri"/>
                <a:ea typeface="Calibri"/>
                <a:cs typeface="Calibri"/>
                <a:sym typeface="Calibri"/>
              </a:rPr>
              <a:t>Влагане на обекти</a:t>
            </a:r>
            <a:endParaRPr/>
          </a:p>
        </p:txBody>
      </p:sp>
      <p:sp>
        <p:nvSpPr>
          <p:cNvPr id="235" name="Google Shape;235;p31"/>
          <p:cNvSpPr txBox="1"/>
          <p:nvPr/>
        </p:nvSpPr>
        <p:spPr>
          <a:xfrm>
            <a:off x="731520" y="1645920"/>
            <a:ext cx="5120700" cy="43869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struct Box {</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   double height, width, length;</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struct Warehouse {</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   char name[1024];</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   Box b1, b2;</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int main() {</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   Warehouse w = { "Ekont", { 1, 2, 3 }, { 4, 5, 3 } };</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   std::cout &lt;&lt; w.name;</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   return 0;</a:t>
            </a:r>
            <a:endParaRPr sz="15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500">
                <a:solidFill>
                  <a:srgbClr val="DCE6F0"/>
                </a:solidFill>
                <a:latin typeface="Consolas"/>
                <a:ea typeface="Consolas"/>
                <a:cs typeface="Consolas"/>
                <a:sym typeface="Consolas"/>
              </a:rPr>
              <a:t>}</a:t>
            </a:r>
            <a:endParaRPr sz="1300">
              <a:solidFill>
                <a:srgbClr val="DCE1E6"/>
              </a:solidFill>
              <a:latin typeface="Calibri"/>
              <a:ea typeface="Calibri"/>
              <a:cs typeface="Calibri"/>
              <a:sym typeface="Calibri"/>
            </a:endParaRPr>
          </a:p>
          <a:p>
            <a:pPr indent="0" lvl="0" marL="0" rtl="0" algn="l">
              <a:spcBef>
                <a:spcPts val="0"/>
              </a:spcBef>
              <a:spcAft>
                <a:spcPts val="0"/>
              </a:spcAft>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3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300">
              <a:solidFill>
                <a:srgbClr val="DCE1E6"/>
              </a:solidFill>
              <a:latin typeface="Calibri"/>
              <a:ea typeface="Calibri"/>
              <a:cs typeface="Calibri"/>
              <a:sym typeface="Calibri"/>
            </a:endParaRPr>
          </a:p>
        </p:txBody>
      </p:sp>
      <p:sp>
        <p:nvSpPr>
          <p:cNvPr id="236" name="Google Shape;236;p31"/>
          <p:cNvSpPr/>
          <p:nvPr/>
        </p:nvSpPr>
        <p:spPr>
          <a:xfrm>
            <a:off x="6400800" y="548640"/>
            <a:ext cx="5212200" cy="4937700"/>
          </a:xfrm>
          <a:prstGeom prst="roundRect">
            <a:avLst>
              <a:gd fmla="val 16667" name="adj"/>
            </a:avLst>
          </a:prstGeom>
          <a:solidFill>
            <a:srgbClr val="12181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7" name="Google Shape;237;p31"/>
          <p:cNvSpPr txBox="1"/>
          <p:nvPr/>
        </p:nvSpPr>
        <p:spPr>
          <a:xfrm>
            <a:off x="6537950" y="685800"/>
            <a:ext cx="4937700" cy="8096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200">
                <a:solidFill>
                  <a:srgbClr val="DCE6F0"/>
                </a:solidFill>
                <a:latin typeface="Consolas"/>
                <a:ea typeface="Consolas"/>
                <a:cs typeface="Consolas"/>
                <a:sym typeface="Consolas"/>
              </a:rPr>
              <a:t>			</a:t>
            </a:r>
            <a:r>
              <a:rPr lang="en-US" sz="1600">
                <a:solidFill>
                  <a:srgbClr val="DCE6F0"/>
                </a:solidFill>
                <a:latin typeface="Consolas"/>
                <a:ea typeface="Consolas"/>
                <a:cs typeface="Consolas"/>
                <a:sym typeface="Consolas"/>
              </a:rPr>
              <a:t>Java example</a:t>
            </a:r>
            <a:endParaRPr sz="16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class Box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double height; //private by default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double width;  </a:t>
            </a:r>
            <a:r>
              <a:rPr lang="en-US" sz="1200">
                <a:solidFill>
                  <a:srgbClr val="DCE6F0"/>
                </a:solidFill>
                <a:latin typeface="Consolas"/>
                <a:ea typeface="Consolas"/>
                <a:cs typeface="Consolas"/>
                <a:sym typeface="Consolas"/>
              </a:rPr>
              <a:t>//private by default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double length; </a:t>
            </a:r>
            <a:r>
              <a:rPr lang="en-US" sz="1200">
                <a:solidFill>
                  <a:srgbClr val="DCE6F0"/>
                </a:solidFill>
                <a:latin typeface="Consolas"/>
                <a:ea typeface="Consolas"/>
                <a:cs typeface="Consolas"/>
                <a:sym typeface="Consolas"/>
              </a:rPr>
              <a:t>//private by default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Box(double height, double width, double length)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this.height = height;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this.width = width;</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this.length = length;</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class Warehouse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String name;</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Box b1;</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Box b2;</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Warehouse(String name, Box b1, Box b2)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this.name = name;</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this.b1 = b1;</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this.b2 = b2;</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public class Main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public static void main(String[] args)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Warehouse w = new Warehouse(</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"Ekont",</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new Box(1, 2, 3),</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new Box(4, 5, 3)</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System.out.println(w.name);</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    }</a:t>
            </a:r>
            <a:endParaRPr sz="1200">
              <a:solidFill>
                <a:srgbClr val="DCE6F0"/>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45720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241" name="Shape 241"/>
        <p:cNvGrpSpPr/>
        <p:nvPr/>
      </p:nvGrpSpPr>
      <p:grpSpPr>
        <a:xfrm>
          <a:off x="0" y="0"/>
          <a:ext cx="0" cy="0"/>
          <a:chOff x="0" y="0"/>
          <a:chExt cx="0" cy="0"/>
        </a:xfrm>
      </p:grpSpPr>
      <p:sp>
        <p:nvSpPr>
          <p:cNvPr id="242" name="Google Shape;242;p32"/>
          <p:cNvSpPr/>
          <p:nvPr/>
        </p:nvSpPr>
        <p:spPr>
          <a:xfrm>
            <a:off x="548640" y="548640"/>
            <a:ext cx="5486400" cy="4937700"/>
          </a:xfrm>
          <a:prstGeom prst="roundRect">
            <a:avLst>
              <a:gd fmla="val 16667" name="adj"/>
            </a:avLst>
          </a:prstGeom>
          <a:solidFill>
            <a:srgbClr val="0B23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32"/>
          <p:cNvSpPr txBox="1"/>
          <p:nvPr/>
        </p:nvSpPr>
        <p:spPr>
          <a:xfrm>
            <a:off x="731520" y="731520"/>
            <a:ext cx="512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4D7"/>
                </a:solidFill>
                <a:latin typeface="Calibri"/>
                <a:ea typeface="Calibri"/>
                <a:cs typeface="Calibri"/>
                <a:sym typeface="Calibri"/>
              </a:rPr>
              <a:t>Енумерации</a:t>
            </a:r>
            <a:endParaRPr/>
          </a:p>
        </p:txBody>
      </p:sp>
      <p:sp>
        <p:nvSpPr>
          <p:cNvPr id="244" name="Google Shape;244;p32"/>
          <p:cNvSpPr txBox="1"/>
          <p:nvPr/>
        </p:nvSpPr>
        <p:spPr>
          <a:xfrm>
            <a:off x="731520" y="1645920"/>
            <a:ext cx="5120700" cy="3309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700">
                <a:solidFill>
                  <a:srgbClr val="DCE1E6"/>
                </a:solidFill>
                <a:latin typeface="Calibri"/>
                <a:ea typeface="Calibri"/>
                <a:cs typeface="Calibri"/>
                <a:sym typeface="Calibri"/>
              </a:rPr>
              <a:t>Eнумерацията е отделен тип, чиято стойност е ограничена до диапазон от стойности, който може да включва няколко изрично посочени константи(енумератори). Стойностите на константите са стойности от интегрален тип, известен като основен тип на eнумерацията.  Eнумерацията има същия размер, представяне на стойност и като неговия основен тип. Освен това всяка стойност на енумерацията има същото представяне като съответната стойност на основния тип.</a:t>
            </a:r>
            <a:endParaRPr sz="1700">
              <a:solidFill>
                <a:srgbClr val="DCE1E6"/>
              </a:solidFill>
              <a:latin typeface="Calibri"/>
              <a:ea typeface="Calibri"/>
              <a:cs typeface="Calibri"/>
              <a:sym typeface="Calibri"/>
            </a:endParaRPr>
          </a:p>
          <a:p>
            <a:pPr indent="0" lvl="0" marL="0" rtl="0" algn="l">
              <a:spcBef>
                <a:spcPts val="0"/>
              </a:spcBef>
              <a:spcAft>
                <a:spcPts val="0"/>
              </a:spcAft>
              <a:buNone/>
            </a:pPr>
            <a:r>
              <a:t/>
            </a:r>
            <a:endParaRPr sz="1300">
              <a:solidFill>
                <a:srgbClr val="DCE1E6"/>
              </a:solidFill>
              <a:latin typeface="Calibri"/>
              <a:ea typeface="Calibri"/>
              <a:cs typeface="Calibri"/>
              <a:sym typeface="Calibri"/>
            </a:endParaRPr>
          </a:p>
          <a:p>
            <a:pPr indent="0" lvl="0" marL="0" rtl="0" algn="l">
              <a:spcBef>
                <a:spcPts val="0"/>
              </a:spcBef>
              <a:spcAft>
                <a:spcPts val="0"/>
              </a:spcAft>
              <a:buSzPts val="1100"/>
              <a:buNone/>
            </a:pPr>
            <a:r>
              <a:t/>
            </a:r>
            <a:endParaRPr sz="1300">
              <a:solidFill>
                <a:srgbClr val="DCE1E6"/>
              </a:solidFill>
              <a:latin typeface="Calibri"/>
              <a:ea typeface="Calibri"/>
              <a:cs typeface="Calibri"/>
              <a:sym typeface="Calibri"/>
            </a:endParaRPr>
          </a:p>
          <a:p>
            <a:pPr indent="0" lvl="0" marL="0" marR="0" rtl="0" algn="l">
              <a:spcBef>
                <a:spcPts val="0"/>
              </a:spcBef>
              <a:spcAft>
                <a:spcPts val="0"/>
              </a:spcAft>
              <a:buNone/>
            </a:pPr>
            <a:r>
              <a:t/>
            </a:r>
            <a:endParaRPr sz="1300">
              <a:solidFill>
                <a:srgbClr val="DCE1E6"/>
              </a:solidFill>
              <a:latin typeface="Calibri"/>
              <a:ea typeface="Calibri"/>
              <a:cs typeface="Calibri"/>
              <a:sym typeface="Calibri"/>
            </a:endParaRPr>
          </a:p>
        </p:txBody>
      </p:sp>
      <p:sp>
        <p:nvSpPr>
          <p:cNvPr id="245" name="Google Shape;245;p32"/>
          <p:cNvSpPr/>
          <p:nvPr/>
        </p:nvSpPr>
        <p:spPr>
          <a:xfrm>
            <a:off x="6400800" y="548640"/>
            <a:ext cx="5212200" cy="4937700"/>
          </a:xfrm>
          <a:prstGeom prst="roundRect">
            <a:avLst>
              <a:gd fmla="val 16667" name="adj"/>
            </a:avLst>
          </a:prstGeom>
          <a:solidFill>
            <a:srgbClr val="12181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6" name="Google Shape;246;p32"/>
          <p:cNvSpPr txBox="1"/>
          <p:nvPr/>
        </p:nvSpPr>
        <p:spPr>
          <a:xfrm>
            <a:off x="6537950" y="685800"/>
            <a:ext cx="4937700" cy="48948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200">
                <a:solidFill>
                  <a:srgbClr val="DCE6F0"/>
                </a:solidFill>
                <a:latin typeface="Consolas"/>
                <a:ea typeface="Consolas"/>
                <a:cs typeface="Consolas"/>
                <a:sym typeface="Consolas"/>
              </a:rPr>
              <a:t>enum IceCream1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vanilla, //0</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chocolate, //1</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strawberry, //2</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mango, //3</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oreo //4</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enum IceCream2 : char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vanilla, //0</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chocolate, //1</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strawberry, //2</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mango, //3</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	oreo //4</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200">
                <a:solidFill>
                  <a:srgbClr val="DCE6F0"/>
                </a:solidFill>
                <a:latin typeface="Consolas"/>
                <a:ea typeface="Consolas"/>
                <a:cs typeface="Consolas"/>
                <a:sym typeface="Consolas"/>
              </a:rPr>
              <a:t>enum class Animal { dog, deer, cat, bird, human };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250" name="Shape 250"/>
        <p:cNvGrpSpPr/>
        <p:nvPr/>
      </p:nvGrpSpPr>
      <p:grpSpPr>
        <a:xfrm>
          <a:off x="0" y="0"/>
          <a:ext cx="0" cy="0"/>
          <a:chOff x="0" y="0"/>
          <a:chExt cx="0" cy="0"/>
        </a:xfrm>
      </p:grpSpPr>
      <p:sp>
        <p:nvSpPr>
          <p:cNvPr id="251" name="Google Shape;251;p33"/>
          <p:cNvSpPr txBox="1"/>
          <p:nvPr/>
        </p:nvSpPr>
        <p:spPr>
          <a:xfrm>
            <a:off x="548640" y="274320"/>
            <a:ext cx="10881300" cy="430800"/>
          </a:xfrm>
          <a:prstGeom prst="rect">
            <a:avLst/>
          </a:prstGeom>
          <a:noFill/>
          <a:ln>
            <a:noFill/>
          </a:ln>
        </p:spPr>
        <p:txBody>
          <a:bodyPr anchorCtr="0" anchor="t" bIns="45700" lIns="91425" spcFirstLastPara="1" rIns="91425" wrap="square" tIns="45700">
            <a:spAutoFit/>
          </a:bodyPr>
          <a:lstStyle/>
          <a:p>
            <a:pPr indent="0" lvl="0" marL="3657600" marR="0" rtl="0" algn="l">
              <a:spcBef>
                <a:spcPts val="0"/>
              </a:spcBef>
              <a:spcAft>
                <a:spcPts val="0"/>
              </a:spcAft>
              <a:buNone/>
            </a:pPr>
            <a:r>
              <a:rPr lang="en-US" sz="2200">
                <a:solidFill>
                  <a:srgbClr val="DCE1E6"/>
                </a:solidFill>
                <a:latin typeface="Calibri"/>
                <a:ea typeface="Calibri"/>
                <a:cs typeface="Calibri"/>
                <a:sym typeface="Calibri"/>
              </a:rPr>
              <a:t>Namespaces</a:t>
            </a:r>
            <a:endParaRPr/>
          </a:p>
        </p:txBody>
      </p:sp>
      <p:sp>
        <p:nvSpPr>
          <p:cNvPr id="252" name="Google Shape;252;p33"/>
          <p:cNvSpPr/>
          <p:nvPr/>
        </p:nvSpPr>
        <p:spPr>
          <a:xfrm>
            <a:off x="548640" y="914400"/>
            <a:ext cx="10058400" cy="5212200"/>
          </a:xfrm>
          <a:prstGeom prst="roundRect">
            <a:avLst>
              <a:gd fmla="val 16667" name="adj"/>
            </a:avLst>
          </a:prstGeom>
          <a:solidFill>
            <a:srgbClr val="12181F"/>
          </a:solidFill>
          <a:ln cap="flat" cmpd="sng" w="9525">
            <a:solidFill>
              <a:srgbClr val="282C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33"/>
          <p:cNvSpPr/>
          <p:nvPr/>
        </p:nvSpPr>
        <p:spPr>
          <a:xfrm>
            <a:off x="548640" y="914400"/>
            <a:ext cx="640200" cy="5212200"/>
          </a:xfrm>
          <a:prstGeom prst="rect">
            <a:avLst/>
          </a:prstGeom>
          <a:solidFill>
            <a:srgbClr val="181E2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33"/>
          <p:cNvSpPr txBox="1"/>
          <p:nvPr/>
        </p:nvSpPr>
        <p:spPr>
          <a:xfrm>
            <a:off x="594360" y="1051560"/>
            <a:ext cx="5487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9</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10</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19</a:t>
            </a:r>
            <a:endParaRPr b="0" i="0" sz="900" u="none" cap="none" strike="noStrike">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24</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25</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26</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27</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28</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29</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34</a:t>
            </a:r>
            <a:endParaRPr sz="900">
              <a:solidFill>
                <a:srgbClr val="828C96"/>
              </a:solidFill>
              <a:latin typeface="Consolas"/>
              <a:ea typeface="Consolas"/>
              <a:cs typeface="Consolas"/>
              <a:sym typeface="Consolas"/>
            </a:endParaRPr>
          </a:p>
        </p:txBody>
      </p:sp>
      <p:sp>
        <p:nvSpPr>
          <p:cNvPr id="255" name="Google Shape;255;p33"/>
          <p:cNvSpPr txBox="1"/>
          <p:nvPr/>
        </p:nvSpPr>
        <p:spPr>
          <a:xfrm>
            <a:off x="1417300" y="0"/>
            <a:ext cx="9144000" cy="6510900"/>
          </a:xfrm>
          <a:prstGeom prst="rect">
            <a:avLst/>
          </a:prstGeom>
          <a:noFill/>
          <a:ln>
            <a:noFill/>
          </a:ln>
        </p:spPr>
        <p:txBody>
          <a:bodyPr anchorCtr="0" anchor="t" bIns="45700" lIns="76200" spcFirstLastPara="1" rIns="91425" wrap="square" tIns="76200">
            <a:spAutoFit/>
          </a:bodyPr>
          <a:lstStyle/>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namespace A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i;</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namespace B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i;</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j;</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namespace C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namespace D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using namespace A; // all names from A injected into global namespace</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j;</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k;</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a = i;         // i is B::i, because A::i is hidden by B::i</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using namespace D; // names from D are injected into C</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 names from A are injected into global namespace</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k = 89; // OK to declare name identical to one introduced by a using</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l = k;  // ambiguous: C::k or D::k</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m = i;  // ok: B::i hides A::i</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n = j;  // ok: D::j hides B::j</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7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a:solidFill>
                  <a:srgbClr val="DCE6F0"/>
                </a:solidFill>
                <a:latin typeface="Consolas"/>
                <a:ea typeface="Consolas"/>
                <a:cs typeface="Consolas"/>
                <a:sym typeface="Consolas"/>
              </a:rPr>
              <a:t>/*Пространствата от имена предоставят метод за предотвратяване на конфликти с имена.</a:t>
            </a:r>
            <a:endParaRPr>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a:solidFill>
                  <a:srgbClr val="DCE6F0"/>
                </a:solidFill>
                <a:latin typeface="Consolas"/>
                <a:ea typeface="Consolas"/>
                <a:cs typeface="Consolas"/>
                <a:sym typeface="Consolas"/>
              </a:rPr>
              <a:t>Символите, декларирани вътре в namespace block, се поставят в наименуван scope, който не позволява да бъдат сбъркани със символи с идентични имена в други диапазони.*/</a:t>
            </a:r>
            <a:endParaRPr>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7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7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800">
              <a:solidFill>
                <a:srgbClr val="DCE6F0"/>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259" name="Shape 259"/>
        <p:cNvGrpSpPr/>
        <p:nvPr/>
      </p:nvGrpSpPr>
      <p:grpSpPr>
        <a:xfrm>
          <a:off x="0" y="0"/>
          <a:ext cx="0" cy="0"/>
          <a:chOff x="0" y="0"/>
          <a:chExt cx="0" cy="0"/>
        </a:xfrm>
      </p:grpSpPr>
      <p:sp>
        <p:nvSpPr>
          <p:cNvPr id="260" name="Google Shape;260;p34"/>
          <p:cNvSpPr txBox="1"/>
          <p:nvPr/>
        </p:nvSpPr>
        <p:spPr>
          <a:xfrm>
            <a:off x="548640" y="274320"/>
            <a:ext cx="10881300" cy="430800"/>
          </a:xfrm>
          <a:prstGeom prst="rect">
            <a:avLst/>
          </a:prstGeom>
          <a:noFill/>
          <a:ln>
            <a:noFill/>
          </a:ln>
        </p:spPr>
        <p:txBody>
          <a:bodyPr anchorCtr="0" anchor="t" bIns="45700" lIns="91425" spcFirstLastPara="1" rIns="91425" wrap="square" tIns="45700">
            <a:spAutoFit/>
          </a:bodyPr>
          <a:lstStyle/>
          <a:p>
            <a:pPr indent="0" lvl="0" marL="3657600" marR="0" rtl="0" algn="l">
              <a:spcBef>
                <a:spcPts val="0"/>
              </a:spcBef>
              <a:spcAft>
                <a:spcPts val="0"/>
              </a:spcAft>
              <a:buNone/>
            </a:pPr>
            <a:r>
              <a:rPr lang="en-US" sz="2200">
                <a:solidFill>
                  <a:srgbClr val="DCE1E6"/>
                </a:solidFill>
                <a:latin typeface="Calibri"/>
                <a:ea typeface="Calibri"/>
                <a:cs typeface="Calibri"/>
                <a:sym typeface="Calibri"/>
              </a:rPr>
              <a:t>Пример за енумерации</a:t>
            </a:r>
            <a:endParaRPr/>
          </a:p>
        </p:txBody>
      </p:sp>
      <p:sp>
        <p:nvSpPr>
          <p:cNvPr id="261" name="Google Shape;261;p34"/>
          <p:cNvSpPr/>
          <p:nvPr/>
        </p:nvSpPr>
        <p:spPr>
          <a:xfrm>
            <a:off x="548640" y="914400"/>
            <a:ext cx="10058400" cy="5212200"/>
          </a:xfrm>
          <a:prstGeom prst="roundRect">
            <a:avLst>
              <a:gd fmla="val 16667" name="adj"/>
            </a:avLst>
          </a:prstGeom>
          <a:solidFill>
            <a:srgbClr val="12181F"/>
          </a:solidFill>
          <a:ln cap="flat" cmpd="sng" w="9525">
            <a:solidFill>
              <a:srgbClr val="282C34"/>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2" name="Google Shape;262;p34"/>
          <p:cNvSpPr/>
          <p:nvPr/>
        </p:nvSpPr>
        <p:spPr>
          <a:xfrm>
            <a:off x="548640" y="914400"/>
            <a:ext cx="640200" cy="5212200"/>
          </a:xfrm>
          <a:prstGeom prst="rect">
            <a:avLst/>
          </a:prstGeom>
          <a:solidFill>
            <a:srgbClr val="181E2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34"/>
          <p:cNvSpPr txBox="1"/>
          <p:nvPr/>
        </p:nvSpPr>
        <p:spPr>
          <a:xfrm>
            <a:off x="594360" y="1051560"/>
            <a:ext cx="548700" cy="480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9</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10</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11</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12</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13</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14</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15</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16</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17</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18</a:t>
            </a:r>
            <a:endParaRPr/>
          </a:p>
          <a:p>
            <a:pPr indent="0" lvl="0" marL="0" marR="0" rtl="0" algn="l">
              <a:spcBef>
                <a:spcPts val="0"/>
              </a:spcBef>
              <a:spcAft>
                <a:spcPts val="0"/>
              </a:spcAft>
              <a:buNone/>
            </a:pPr>
            <a:r>
              <a:rPr b="0" i="0" lang="en-US" sz="900" u="none" cap="none" strike="noStrike">
                <a:solidFill>
                  <a:srgbClr val="828C96"/>
                </a:solidFill>
                <a:latin typeface="Consolas"/>
                <a:ea typeface="Consolas"/>
                <a:cs typeface="Consolas"/>
                <a:sym typeface="Consolas"/>
              </a:rPr>
              <a:t>19</a:t>
            </a:r>
            <a:endParaRPr b="0" i="0" sz="900" u="none" cap="none" strike="noStrike">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24</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25</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26</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27</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28</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29</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30</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31</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32</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33</a:t>
            </a:r>
            <a:endParaRPr sz="900">
              <a:solidFill>
                <a:srgbClr val="828C96"/>
              </a:solidFill>
              <a:latin typeface="Consolas"/>
              <a:ea typeface="Consolas"/>
              <a:cs typeface="Consolas"/>
              <a:sym typeface="Consolas"/>
            </a:endParaRPr>
          </a:p>
          <a:p>
            <a:pPr indent="0" lvl="0" marL="0" marR="0" rtl="0" algn="l">
              <a:spcBef>
                <a:spcPts val="0"/>
              </a:spcBef>
              <a:spcAft>
                <a:spcPts val="0"/>
              </a:spcAft>
              <a:buNone/>
            </a:pPr>
            <a:r>
              <a:rPr lang="en-US" sz="900">
                <a:solidFill>
                  <a:srgbClr val="828C96"/>
                </a:solidFill>
                <a:latin typeface="Consolas"/>
                <a:ea typeface="Consolas"/>
                <a:cs typeface="Consolas"/>
                <a:sym typeface="Consolas"/>
              </a:rPr>
              <a:t>34</a:t>
            </a:r>
            <a:endParaRPr sz="900">
              <a:solidFill>
                <a:srgbClr val="828C96"/>
              </a:solidFill>
              <a:latin typeface="Consolas"/>
              <a:ea typeface="Consolas"/>
              <a:cs typeface="Consolas"/>
              <a:sym typeface="Consolas"/>
            </a:endParaRPr>
          </a:p>
        </p:txBody>
      </p:sp>
      <p:sp>
        <p:nvSpPr>
          <p:cNvPr id="264" name="Google Shape;264;p34"/>
          <p:cNvSpPr txBox="1"/>
          <p:nvPr/>
        </p:nvSpPr>
        <p:spPr>
          <a:xfrm>
            <a:off x="1325875" y="1051550"/>
            <a:ext cx="9144000" cy="5987700"/>
          </a:xfrm>
          <a:prstGeom prst="rect">
            <a:avLst/>
          </a:prstGeom>
          <a:noFill/>
          <a:ln>
            <a:noFill/>
          </a:ln>
        </p:spPr>
        <p:txBody>
          <a:bodyPr anchorCtr="0" anchor="t" bIns="45700" lIns="76200" spcFirstLastPara="1" rIns="91425" wrap="square" tIns="76200">
            <a:spAutoFit/>
          </a:bodyPr>
          <a:lstStyle/>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enum Color { red, green, blue };                    // plain enum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enum Card { red_card, green_card, yellow_card };    // another plain enum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enum class Animal { dog, deer, cat, bird, human };  // enum class</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enum class Mammal { kangaroo, deer, human };        // another enum class</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void example()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 examples of bad use of plain enums:</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Color color = Color::red;</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Card card = Card::green_card;</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num = color;    // no problem</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if (color == Card::red_card) // no problem (bad)</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cout &lt;&lt; "bad" &lt;&lt; endl;</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if (card == Color::green)   // no problem (bad)</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cout &lt;&lt; "bad" &lt;&lt; endl;</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 examples of good use of enum classes (safe)</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Animal a = Animal::deer;</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Mammal m = Mammal::deer;</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int num2 = a;   // error</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if (m == a)     // error (good)</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cout &lt;&lt; "bad" &lt;&lt; endl;</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if (a == Mammal::deer) // error (good)</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        cout &lt;&lt; "bad" &lt;&lt; endl;</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rPr lang="en-US" sz="1100">
                <a:solidFill>
                  <a:srgbClr val="DCE6F0"/>
                </a:solidFill>
                <a:latin typeface="Consolas"/>
                <a:ea typeface="Consolas"/>
                <a:cs typeface="Consolas"/>
                <a:sym typeface="Consolas"/>
              </a:rPr>
              <a:t>}</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1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7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7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7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800">
              <a:solidFill>
                <a:srgbClr val="DCE6F0"/>
              </a:solidFill>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268" name="Shape 268"/>
        <p:cNvGrpSpPr/>
        <p:nvPr/>
      </p:nvGrpSpPr>
      <p:grpSpPr>
        <a:xfrm>
          <a:off x="0" y="0"/>
          <a:ext cx="0" cy="0"/>
          <a:chOff x="0" y="0"/>
          <a:chExt cx="0" cy="0"/>
        </a:xfrm>
      </p:grpSpPr>
      <p:sp>
        <p:nvSpPr>
          <p:cNvPr id="269" name="Google Shape;269;p35"/>
          <p:cNvSpPr/>
          <p:nvPr/>
        </p:nvSpPr>
        <p:spPr>
          <a:xfrm>
            <a:off x="548640" y="548640"/>
            <a:ext cx="5486400" cy="4937700"/>
          </a:xfrm>
          <a:prstGeom prst="roundRect">
            <a:avLst>
              <a:gd fmla="val 16667" name="adj"/>
            </a:avLst>
          </a:prstGeom>
          <a:solidFill>
            <a:srgbClr val="0B23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0" name="Google Shape;270;p35"/>
          <p:cNvSpPr txBox="1"/>
          <p:nvPr/>
        </p:nvSpPr>
        <p:spPr>
          <a:xfrm>
            <a:off x="731520" y="731520"/>
            <a:ext cx="512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4D7"/>
                </a:solidFill>
                <a:latin typeface="Calibri"/>
                <a:ea typeface="Calibri"/>
                <a:cs typeface="Calibri"/>
                <a:sym typeface="Calibri"/>
              </a:rPr>
              <a:t>Базов пример за всяка лекция</a:t>
            </a:r>
            <a:endParaRPr/>
          </a:p>
        </p:txBody>
      </p:sp>
      <p:sp>
        <p:nvSpPr>
          <p:cNvPr id="271" name="Google Shape;271;p35"/>
          <p:cNvSpPr txBox="1"/>
          <p:nvPr/>
        </p:nvSpPr>
        <p:spPr>
          <a:xfrm>
            <a:off x="731520" y="1645920"/>
            <a:ext cx="5120700" cy="32325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700">
                <a:solidFill>
                  <a:srgbClr val="DCE1E6"/>
                </a:solidFill>
                <a:latin typeface="Calibri"/>
                <a:ea typeface="Calibri"/>
                <a:cs typeface="Calibri"/>
                <a:sym typeface="Calibri"/>
              </a:rPr>
              <a:t>class Student {</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public:</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    std::string name;</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    int age;</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    double grade;</a:t>
            </a:r>
            <a:endParaRPr sz="1700">
              <a:solidFill>
                <a:srgbClr val="DCE1E6"/>
              </a:solidFill>
              <a:latin typeface="Calibri"/>
              <a:ea typeface="Calibri"/>
              <a:cs typeface="Calibri"/>
              <a:sym typeface="Calibri"/>
            </a:endParaRPr>
          </a:p>
          <a:p>
            <a:pPr indent="0" lvl="0" marL="0" rtl="0" algn="l">
              <a:spcBef>
                <a:spcPts val="0"/>
              </a:spcBef>
              <a:spcAft>
                <a:spcPts val="0"/>
              </a:spcAft>
              <a:buNone/>
            </a:pPr>
            <a:r>
              <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    void displayInfo() const {</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        std::cout &lt;&lt; "Name: " &lt;&lt; name </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                  &lt;&lt; ", Age: " &lt;&lt; age </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                  &lt;&lt; ", Grade: " &lt;&lt; grade &lt;&lt; std::endl;</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    }</a:t>
            </a:r>
            <a:endParaRPr sz="1700">
              <a:solidFill>
                <a:srgbClr val="DCE1E6"/>
              </a:solidFill>
              <a:latin typeface="Calibri"/>
              <a:ea typeface="Calibri"/>
              <a:cs typeface="Calibri"/>
              <a:sym typeface="Calibri"/>
            </a:endParaRPr>
          </a:p>
          <a:p>
            <a:pPr indent="0" lvl="0" marL="0" rtl="0" algn="l">
              <a:spcBef>
                <a:spcPts val="0"/>
              </a:spcBef>
              <a:spcAft>
                <a:spcPts val="0"/>
              </a:spcAft>
              <a:buNone/>
            </a:pPr>
            <a:r>
              <a:rPr lang="en-US" sz="1700">
                <a:solidFill>
                  <a:srgbClr val="DCE1E6"/>
                </a:solidFill>
                <a:latin typeface="Calibri"/>
                <a:ea typeface="Calibri"/>
                <a:cs typeface="Calibri"/>
                <a:sym typeface="Calibri"/>
              </a:rPr>
              <a:t>};</a:t>
            </a:r>
            <a:endParaRPr sz="1300">
              <a:solidFill>
                <a:srgbClr val="DCE1E6"/>
              </a:solidFill>
              <a:latin typeface="Calibri"/>
              <a:ea typeface="Calibri"/>
              <a:cs typeface="Calibri"/>
              <a:sym typeface="Calibri"/>
            </a:endParaRPr>
          </a:p>
        </p:txBody>
      </p:sp>
      <p:sp>
        <p:nvSpPr>
          <p:cNvPr id="272" name="Google Shape;272;p35"/>
          <p:cNvSpPr/>
          <p:nvPr/>
        </p:nvSpPr>
        <p:spPr>
          <a:xfrm>
            <a:off x="6400800" y="548640"/>
            <a:ext cx="5212200" cy="4937700"/>
          </a:xfrm>
          <a:prstGeom prst="roundRect">
            <a:avLst>
              <a:gd fmla="val 16667" name="adj"/>
            </a:avLst>
          </a:prstGeom>
          <a:solidFill>
            <a:srgbClr val="12181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3" name="Google Shape;273;p35"/>
          <p:cNvSpPr txBox="1"/>
          <p:nvPr/>
        </p:nvSpPr>
        <p:spPr>
          <a:xfrm>
            <a:off x="6538050" y="664050"/>
            <a:ext cx="4937700" cy="63723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class School {</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public:</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    std::string name;</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    Student student1;</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    Student student2;</a:t>
            </a:r>
            <a:endParaRPr sz="1800">
              <a:solidFill>
                <a:srgbClr val="DCE6F0"/>
              </a:solidFill>
              <a:latin typeface="Calibri"/>
              <a:ea typeface="Calibri"/>
              <a:cs typeface="Calibri"/>
              <a:sym typeface="Calibri"/>
            </a:endParaRPr>
          </a:p>
          <a:p>
            <a:pPr indent="0" lvl="0" marL="0" rtl="0" algn="l">
              <a:spcBef>
                <a:spcPts val="0"/>
              </a:spcBef>
              <a:spcAft>
                <a:spcPts val="0"/>
              </a:spcAft>
              <a:buNone/>
            </a:pPr>
            <a:r>
              <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    void displayStudents() const {</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        std::cout &lt;&lt; "School: " &lt;&lt; name &lt;&lt; std::endl;</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        student1.displayInfo();</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        student2.displayInfo();</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    }</a:t>
            </a:r>
            <a:endParaRPr sz="1800">
              <a:solidFill>
                <a:srgbClr val="DCE6F0"/>
              </a:solidFill>
              <a:latin typeface="Calibri"/>
              <a:ea typeface="Calibri"/>
              <a:cs typeface="Calibri"/>
              <a:sym typeface="Calibri"/>
            </a:endParaRPr>
          </a:p>
          <a:p>
            <a:pPr indent="0" lvl="0" marL="0" rtl="0" algn="l">
              <a:spcBef>
                <a:spcPts val="0"/>
              </a:spcBef>
              <a:spcAft>
                <a:spcPts val="0"/>
              </a:spcAft>
              <a:buNone/>
            </a:pPr>
            <a:r>
              <a:rPr lang="en-US" sz="1800">
                <a:solidFill>
                  <a:srgbClr val="DCE6F0"/>
                </a:solidFill>
                <a:latin typeface="Calibri"/>
                <a:ea typeface="Calibri"/>
                <a:cs typeface="Calibri"/>
                <a:sym typeface="Calibri"/>
              </a:rPr>
              <a:t>};</a:t>
            </a:r>
            <a:endParaRPr sz="1800">
              <a:solidFill>
                <a:srgbClr val="DCE6F0"/>
              </a:solidFill>
              <a:latin typeface="Calibri"/>
              <a:ea typeface="Calibri"/>
              <a:cs typeface="Calibri"/>
              <a:sym typeface="Calibri"/>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81B30"/>
        </a:solidFill>
      </p:bgPr>
    </p:bg>
    <p:spTree>
      <p:nvGrpSpPr>
        <p:cNvPr id="277" name="Shape 277"/>
        <p:cNvGrpSpPr/>
        <p:nvPr/>
      </p:nvGrpSpPr>
      <p:grpSpPr>
        <a:xfrm>
          <a:off x="0" y="0"/>
          <a:ext cx="0" cy="0"/>
          <a:chOff x="0" y="0"/>
          <a:chExt cx="0" cy="0"/>
        </a:xfrm>
      </p:grpSpPr>
      <p:sp>
        <p:nvSpPr>
          <p:cNvPr id="278" name="Google Shape;278;p36"/>
          <p:cNvSpPr/>
          <p:nvPr/>
        </p:nvSpPr>
        <p:spPr>
          <a:xfrm>
            <a:off x="548640" y="548640"/>
            <a:ext cx="5486400" cy="4937700"/>
          </a:xfrm>
          <a:prstGeom prst="roundRect">
            <a:avLst>
              <a:gd fmla="val 16667" name="adj"/>
            </a:avLst>
          </a:prstGeom>
          <a:solidFill>
            <a:srgbClr val="0B233C"/>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36"/>
          <p:cNvSpPr txBox="1"/>
          <p:nvPr/>
        </p:nvSpPr>
        <p:spPr>
          <a:xfrm>
            <a:off x="731520" y="731520"/>
            <a:ext cx="51207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rgbClr val="00B4D7"/>
                </a:solidFill>
                <a:latin typeface="Calibri"/>
                <a:ea typeface="Calibri"/>
                <a:cs typeface="Calibri"/>
                <a:sym typeface="Calibri"/>
              </a:rPr>
              <a:t>Обяснение</a:t>
            </a:r>
            <a:endParaRPr/>
          </a:p>
        </p:txBody>
      </p:sp>
      <p:sp>
        <p:nvSpPr>
          <p:cNvPr id="280" name="Google Shape;280;p36"/>
          <p:cNvSpPr txBox="1"/>
          <p:nvPr/>
        </p:nvSpPr>
        <p:spPr>
          <a:xfrm>
            <a:off x="731495" y="1207520"/>
            <a:ext cx="5120700" cy="3755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1700">
              <a:solidFill>
                <a:srgbClr val="DCE1E6"/>
              </a:solidFill>
              <a:latin typeface="Calibri"/>
              <a:ea typeface="Calibri"/>
              <a:cs typeface="Calibri"/>
              <a:sym typeface="Calibri"/>
            </a:endParaRPr>
          </a:p>
          <a:p>
            <a:pPr indent="-336550" lvl="0" marL="457200" rtl="0" algn="l">
              <a:spcBef>
                <a:spcPts val="0"/>
              </a:spcBef>
              <a:spcAft>
                <a:spcPts val="0"/>
              </a:spcAft>
              <a:buClr>
                <a:srgbClr val="DCE1E6"/>
              </a:buClr>
              <a:buSzPts val="1700"/>
              <a:buFont typeface="Calibri"/>
              <a:buChar char="●"/>
            </a:pPr>
            <a:r>
              <a:rPr lang="en-US" sz="1700">
                <a:solidFill>
                  <a:srgbClr val="DCE1E6"/>
                </a:solidFill>
                <a:latin typeface="Calibri"/>
                <a:ea typeface="Calibri"/>
                <a:cs typeface="Calibri"/>
                <a:sym typeface="Calibri"/>
              </a:rPr>
              <a:t>Student и School са класове</a:t>
            </a:r>
            <a:endParaRPr sz="1700">
              <a:solidFill>
                <a:srgbClr val="DCE1E6"/>
              </a:solidFill>
              <a:latin typeface="Calibri"/>
              <a:ea typeface="Calibri"/>
              <a:cs typeface="Calibri"/>
              <a:sym typeface="Calibri"/>
            </a:endParaRPr>
          </a:p>
          <a:p>
            <a:pPr indent="-336550" lvl="0" marL="457200" rtl="0" algn="l">
              <a:spcBef>
                <a:spcPts val="0"/>
              </a:spcBef>
              <a:spcAft>
                <a:spcPts val="0"/>
              </a:spcAft>
              <a:buClr>
                <a:srgbClr val="DCE1E6"/>
              </a:buClr>
              <a:buSzPts val="1700"/>
              <a:buFont typeface="Calibri"/>
              <a:buChar char="●"/>
            </a:pPr>
            <a:r>
              <a:rPr lang="en-US" sz="1700">
                <a:solidFill>
                  <a:srgbClr val="DCE1E6"/>
                </a:solidFill>
                <a:latin typeface="Calibri"/>
                <a:ea typeface="Calibri"/>
                <a:cs typeface="Calibri"/>
                <a:sym typeface="Calibri"/>
              </a:rPr>
              <a:t>student1 и student2 са обекти в обект (School)</a:t>
            </a:r>
            <a:endParaRPr sz="1700">
              <a:solidFill>
                <a:srgbClr val="DCE1E6"/>
              </a:solidFill>
              <a:latin typeface="Calibri"/>
              <a:ea typeface="Calibri"/>
              <a:cs typeface="Calibri"/>
              <a:sym typeface="Calibri"/>
            </a:endParaRPr>
          </a:p>
          <a:p>
            <a:pPr indent="-336550" lvl="0" marL="457200" rtl="0" algn="l">
              <a:spcBef>
                <a:spcPts val="0"/>
              </a:spcBef>
              <a:spcAft>
                <a:spcPts val="0"/>
              </a:spcAft>
              <a:buClr>
                <a:srgbClr val="DCE1E6"/>
              </a:buClr>
              <a:buSzPts val="1700"/>
              <a:buFont typeface="Calibri"/>
              <a:buChar char="●"/>
            </a:pPr>
            <a:r>
              <a:rPr lang="en-US" sz="1700">
                <a:solidFill>
                  <a:srgbClr val="DCE1E6"/>
                </a:solidFill>
                <a:latin typeface="Calibri"/>
                <a:ea typeface="Calibri"/>
                <a:cs typeface="Calibri"/>
                <a:sym typeface="Calibri"/>
              </a:rPr>
              <a:t> Ако подадем обект по референция в метод,  можем да го променяме директно</a:t>
            </a:r>
            <a:endParaRPr sz="1700">
              <a:solidFill>
                <a:srgbClr val="DCE1E6"/>
              </a:solidFill>
              <a:latin typeface="Calibri"/>
              <a:ea typeface="Calibri"/>
              <a:cs typeface="Calibri"/>
              <a:sym typeface="Calibri"/>
            </a:endParaRPr>
          </a:p>
          <a:p>
            <a:pPr indent="-336550" lvl="0" marL="457200" rtl="0" algn="l">
              <a:spcBef>
                <a:spcPts val="0"/>
              </a:spcBef>
              <a:spcAft>
                <a:spcPts val="0"/>
              </a:spcAft>
              <a:buClr>
                <a:srgbClr val="DCE1E6"/>
              </a:buClr>
              <a:buSzPts val="1700"/>
              <a:buFont typeface="Calibri"/>
              <a:buChar char="●"/>
            </a:pPr>
            <a:r>
              <a:rPr lang="en-US" sz="1700">
                <a:solidFill>
                  <a:srgbClr val="DCE1E6"/>
                </a:solidFill>
                <a:latin typeface="Calibri"/>
                <a:ea typeface="Calibri"/>
                <a:cs typeface="Calibri"/>
                <a:sym typeface="Calibri"/>
              </a:rPr>
              <a:t>Вместо свободни функции и структури, методите са част от класовете</a:t>
            </a:r>
            <a:endParaRPr sz="1700">
              <a:solidFill>
                <a:srgbClr val="DCE1E6"/>
              </a:solidFill>
              <a:latin typeface="Calibri"/>
              <a:ea typeface="Calibri"/>
              <a:cs typeface="Calibri"/>
              <a:sym typeface="Calibri"/>
            </a:endParaRPr>
          </a:p>
          <a:p>
            <a:pPr indent="-336550" lvl="0" marL="457200" rtl="0" algn="l">
              <a:spcBef>
                <a:spcPts val="0"/>
              </a:spcBef>
              <a:spcAft>
                <a:spcPts val="0"/>
              </a:spcAft>
              <a:buClr>
                <a:srgbClr val="DCE1E6"/>
              </a:buClr>
              <a:buSzPts val="1700"/>
              <a:buFont typeface="Calibri"/>
              <a:buChar char="●"/>
            </a:pPr>
            <a:r>
              <a:rPr lang="en-US" sz="1700">
                <a:solidFill>
                  <a:srgbClr val="DCE1E6"/>
                </a:solidFill>
                <a:latin typeface="Calibri"/>
                <a:ea typeface="Calibri"/>
                <a:cs typeface="Calibri"/>
                <a:sym typeface="Calibri"/>
              </a:rPr>
              <a:t>displayInfo() и displayStudents() демонстрират енкапсулация</a:t>
            </a:r>
            <a:endParaRPr sz="1700">
              <a:solidFill>
                <a:srgbClr val="DCE1E6"/>
              </a:solidFill>
              <a:latin typeface="Calibri"/>
              <a:ea typeface="Calibri"/>
              <a:cs typeface="Calibri"/>
              <a:sym typeface="Calibri"/>
            </a:endParaRPr>
          </a:p>
          <a:p>
            <a:pPr indent="-336550" lvl="0" marL="457200" rtl="0" algn="l">
              <a:spcBef>
                <a:spcPts val="0"/>
              </a:spcBef>
              <a:spcAft>
                <a:spcPts val="0"/>
              </a:spcAft>
              <a:buClr>
                <a:srgbClr val="DCE1E6"/>
              </a:buClr>
              <a:buSzPts val="1700"/>
              <a:buFont typeface="Calibri"/>
              <a:buChar char="●"/>
            </a:pPr>
            <a:r>
              <a:rPr lang="en-US" sz="1700">
                <a:solidFill>
                  <a:srgbClr val="DCE1E6"/>
                </a:solidFill>
                <a:latin typeface="Calibri"/>
                <a:ea typeface="Calibri"/>
                <a:cs typeface="Calibri"/>
                <a:sym typeface="Calibri"/>
              </a:rPr>
              <a:t>Можем да добавим enum GradeLevel { FRESHMAN, SOPHOMORE, JUNIOR, SENIOR }; и да го включим като поле в Student</a:t>
            </a:r>
            <a:endParaRPr sz="1700">
              <a:solidFill>
                <a:srgbClr val="DCE1E6"/>
              </a:solidFill>
              <a:latin typeface="Calibri"/>
              <a:ea typeface="Calibri"/>
              <a:cs typeface="Calibri"/>
              <a:sym typeface="Calibri"/>
            </a:endParaRPr>
          </a:p>
          <a:p>
            <a:pPr indent="0" lvl="0" marL="0" rtl="0" algn="l">
              <a:spcBef>
                <a:spcPts val="0"/>
              </a:spcBef>
              <a:spcAft>
                <a:spcPts val="0"/>
              </a:spcAft>
              <a:buNone/>
            </a:pPr>
            <a:r>
              <a:t/>
            </a:r>
            <a:endParaRPr sz="1700">
              <a:solidFill>
                <a:srgbClr val="DCE1E6"/>
              </a:solidFill>
              <a:latin typeface="Calibri"/>
              <a:ea typeface="Calibri"/>
              <a:cs typeface="Calibri"/>
              <a:sym typeface="Calibri"/>
            </a:endParaRPr>
          </a:p>
          <a:p>
            <a:pPr indent="0" lvl="0" marL="0" rtl="0" algn="l">
              <a:spcBef>
                <a:spcPts val="0"/>
              </a:spcBef>
              <a:spcAft>
                <a:spcPts val="0"/>
              </a:spcAft>
              <a:buNone/>
            </a:pPr>
            <a:r>
              <a:t/>
            </a:r>
            <a:endParaRPr sz="1700">
              <a:solidFill>
                <a:srgbClr val="DCE1E6"/>
              </a:solidFill>
              <a:latin typeface="Calibri"/>
              <a:ea typeface="Calibri"/>
              <a:cs typeface="Calibri"/>
              <a:sym typeface="Calibri"/>
            </a:endParaRPr>
          </a:p>
        </p:txBody>
      </p:sp>
      <p:sp>
        <p:nvSpPr>
          <p:cNvPr id="281" name="Google Shape;281;p36"/>
          <p:cNvSpPr/>
          <p:nvPr/>
        </p:nvSpPr>
        <p:spPr>
          <a:xfrm>
            <a:off x="6400800" y="548640"/>
            <a:ext cx="5212200" cy="4937700"/>
          </a:xfrm>
          <a:prstGeom prst="roundRect">
            <a:avLst>
              <a:gd fmla="val 16667" name="adj"/>
            </a:avLst>
          </a:prstGeom>
          <a:solidFill>
            <a:srgbClr val="12181F"/>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2" name="Google Shape;282;p36"/>
          <p:cNvSpPr txBox="1"/>
          <p:nvPr/>
        </p:nvSpPr>
        <p:spPr>
          <a:xfrm>
            <a:off x="6538050" y="664050"/>
            <a:ext cx="4937700" cy="6695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1300">
                <a:solidFill>
                  <a:srgbClr val="DCE6F0"/>
                </a:solidFill>
                <a:latin typeface="Calibri"/>
                <a:ea typeface="Calibri"/>
                <a:cs typeface="Calibri"/>
                <a:sym typeface="Calibri"/>
              </a:rPr>
              <a:t>int main() {</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 Създаваме студенти</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Student s1;</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s1.name = "Ivan";</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s1.age = 20;</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s1.grade = 5.50;</a:t>
            </a:r>
            <a:endParaRPr sz="1300">
              <a:solidFill>
                <a:srgbClr val="DCE6F0"/>
              </a:solidFill>
              <a:latin typeface="Calibri"/>
              <a:ea typeface="Calibri"/>
              <a:cs typeface="Calibri"/>
              <a:sym typeface="Calibri"/>
            </a:endParaRPr>
          </a:p>
          <a:p>
            <a:pPr indent="0" lvl="0" marL="0" rtl="0" algn="l">
              <a:spcBef>
                <a:spcPts val="0"/>
              </a:spcBef>
              <a:spcAft>
                <a:spcPts val="0"/>
              </a:spcAft>
              <a:buNone/>
            </a:pPr>
            <a:r>
              <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Student s2;</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s2.name = "Maria";</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s2.age = 19;</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s2.grade = 5.80;</a:t>
            </a:r>
            <a:endParaRPr sz="1300">
              <a:solidFill>
                <a:srgbClr val="DCE6F0"/>
              </a:solidFill>
              <a:latin typeface="Calibri"/>
              <a:ea typeface="Calibri"/>
              <a:cs typeface="Calibri"/>
              <a:sym typeface="Calibri"/>
            </a:endParaRPr>
          </a:p>
          <a:p>
            <a:pPr indent="0" lvl="0" marL="0" rtl="0" algn="l">
              <a:spcBef>
                <a:spcPts val="0"/>
              </a:spcBef>
              <a:spcAft>
                <a:spcPts val="0"/>
              </a:spcAft>
              <a:buNone/>
            </a:pPr>
            <a:r>
              <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 Създаваме училище и му задаваме студенти</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School school;</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school.name = "National High School";</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school.student1 = s1;</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school.student2 = s2;</a:t>
            </a:r>
            <a:endParaRPr sz="1300">
              <a:solidFill>
                <a:srgbClr val="DCE6F0"/>
              </a:solidFill>
              <a:latin typeface="Calibri"/>
              <a:ea typeface="Calibri"/>
              <a:cs typeface="Calibri"/>
              <a:sym typeface="Calibri"/>
            </a:endParaRPr>
          </a:p>
          <a:p>
            <a:pPr indent="0" lvl="0" marL="0" rtl="0" algn="l">
              <a:spcBef>
                <a:spcPts val="0"/>
              </a:spcBef>
              <a:spcAft>
                <a:spcPts val="0"/>
              </a:spcAft>
              <a:buNone/>
            </a:pPr>
            <a:r>
              <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 Показваме информация</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school.displayStudents();</a:t>
            </a:r>
            <a:endParaRPr sz="1300">
              <a:solidFill>
                <a:srgbClr val="DCE6F0"/>
              </a:solidFill>
              <a:latin typeface="Calibri"/>
              <a:ea typeface="Calibri"/>
              <a:cs typeface="Calibri"/>
              <a:sym typeface="Calibri"/>
            </a:endParaRPr>
          </a:p>
          <a:p>
            <a:pPr indent="0" lvl="0" marL="0" rtl="0" algn="l">
              <a:spcBef>
                <a:spcPts val="0"/>
              </a:spcBef>
              <a:spcAft>
                <a:spcPts val="0"/>
              </a:spcAft>
              <a:buNone/>
            </a:pPr>
            <a:r>
              <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    return 0;</a:t>
            </a:r>
            <a:endParaRPr sz="1300">
              <a:solidFill>
                <a:srgbClr val="DCE6F0"/>
              </a:solidFill>
              <a:latin typeface="Calibri"/>
              <a:ea typeface="Calibri"/>
              <a:cs typeface="Calibri"/>
              <a:sym typeface="Calibri"/>
            </a:endParaRPr>
          </a:p>
          <a:p>
            <a:pPr indent="0" lvl="0" marL="0" rtl="0" algn="l">
              <a:spcBef>
                <a:spcPts val="0"/>
              </a:spcBef>
              <a:spcAft>
                <a:spcPts val="0"/>
              </a:spcAft>
              <a:buNone/>
            </a:pPr>
            <a:r>
              <a:rPr lang="en-US" sz="1300">
                <a:solidFill>
                  <a:srgbClr val="DCE6F0"/>
                </a:solidFill>
                <a:latin typeface="Calibri"/>
                <a:ea typeface="Calibri"/>
                <a:cs typeface="Calibri"/>
                <a:sym typeface="Calibri"/>
              </a:rPr>
              <a:t>}</a:t>
            </a:r>
            <a:endParaRPr sz="1300">
              <a:solidFill>
                <a:srgbClr val="DCE6F0"/>
              </a:solidFill>
              <a:latin typeface="Calibri"/>
              <a:ea typeface="Calibri"/>
              <a:cs typeface="Calibri"/>
              <a:sym typeface="Calibri"/>
            </a:endParaRPr>
          </a:p>
          <a:p>
            <a:pPr indent="0" lvl="0" marL="0" rtl="0" algn="l">
              <a:spcBef>
                <a:spcPts val="0"/>
              </a:spcBef>
              <a:spcAft>
                <a:spcPts val="0"/>
              </a:spcAft>
              <a:buNone/>
            </a:pPr>
            <a:r>
              <a:t/>
            </a:r>
            <a:endParaRPr sz="1300">
              <a:solidFill>
                <a:srgbClr val="DCE6F0"/>
              </a:solidFill>
              <a:latin typeface="Calibri"/>
              <a:ea typeface="Calibri"/>
              <a:cs typeface="Calibri"/>
              <a:sym typeface="Calibri"/>
            </a:endParaRPr>
          </a:p>
          <a:p>
            <a:pPr indent="0" lvl="0" marL="0" rtl="0" algn="l">
              <a:spcBef>
                <a:spcPts val="0"/>
              </a:spcBef>
              <a:spcAft>
                <a:spcPts val="0"/>
              </a:spcAft>
              <a:buNone/>
            </a:pPr>
            <a:r>
              <a:t/>
            </a:r>
            <a:endParaRPr sz="700">
              <a:solidFill>
                <a:srgbClr val="DCE6F0"/>
              </a:solidFill>
              <a:latin typeface="Consolas"/>
              <a:ea typeface="Consolas"/>
              <a:cs typeface="Consolas"/>
              <a:sym typeface="Consolas"/>
            </a:endParaRPr>
          </a:p>
          <a:p>
            <a:pPr indent="0" lvl="0" marL="0" rtl="0" algn="l">
              <a:spcBef>
                <a:spcPts val="0"/>
              </a:spcBef>
              <a:spcAft>
                <a:spcPts val="0"/>
              </a:spcAft>
              <a:buNone/>
            </a:pPr>
            <a:r>
              <a:t/>
            </a:r>
            <a:endParaRPr sz="700">
              <a:solidFill>
                <a:srgbClr val="DCE6F0"/>
              </a:solidFill>
              <a:latin typeface="Consolas"/>
              <a:ea typeface="Consolas"/>
              <a:cs typeface="Consolas"/>
              <a:sym typeface="Consolas"/>
            </a:endParaRPr>
          </a:p>
          <a:p>
            <a:pPr indent="0" lvl="0" marL="0" rtl="0" algn="l">
              <a:spcBef>
                <a:spcPts val="0"/>
              </a:spcBef>
              <a:spcAft>
                <a:spcPts val="0"/>
              </a:spcAft>
              <a:buNone/>
            </a:pPr>
            <a:r>
              <a:t/>
            </a:r>
            <a:endParaRPr sz="7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rtl="0" algn="l">
              <a:spcBef>
                <a:spcPts val="0"/>
              </a:spcBef>
              <a:spcAft>
                <a:spcPts val="0"/>
              </a:spcAft>
              <a:buSzPts val="1100"/>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a:p>
            <a:pPr indent="0" lvl="0" marL="0" marR="0" rtl="0" algn="l">
              <a:spcBef>
                <a:spcPts val="0"/>
              </a:spcBef>
              <a:spcAft>
                <a:spcPts val="0"/>
              </a:spcAft>
              <a:buNone/>
            </a:pPr>
            <a:r>
              <a:t/>
            </a:r>
            <a:endParaRPr sz="1200">
              <a:solidFill>
                <a:srgbClr val="DCE6F0"/>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B19"/>
        </a:solidFill>
      </p:bgPr>
    </p:bg>
    <p:spTree>
      <p:nvGrpSpPr>
        <p:cNvPr id="286" name="Shape 286"/>
        <p:cNvGrpSpPr/>
        <p:nvPr/>
      </p:nvGrpSpPr>
      <p:grpSpPr>
        <a:xfrm>
          <a:off x="0" y="0"/>
          <a:ext cx="0" cy="0"/>
          <a:chOff x="0" y="0"/>
          <a:chExt cx="0" cy="0"/>
        </a:xfrm>
      </p:grpSpPr>
      <p:sp>
        <p:nvSpPr>
          <p:cNvPr id="287" name="Google Shape;287;p37"/>
          <p:cNvSpPr txBox="1"/>
          <p:nvPr/>
        </p:nvSpPr>
        <p:spPr>
          <a:xfrm>
            <a:off x="640075" y="1280141"/>
            <a:ext cx="10881300" cy="800400"/>
          </a:xfrm>
          <a:prstGeom prst="rect">
            <a:avLst/>
          </a:prstGeom>
          <a:noFill/>
          <a:ln>
            <a:noFill/>
          </a:ln>
        </p:spPr>
        <p:txBody>
          <a:bodyPr anchorCtr="0" anchor="t" bIns="45700" lIns="91425" spcFirstLastPara="1" rIns="91425" wrap="square" tIns="45700">
            <a:spAutoFit/>
          </a:bodyPr>
          <a:lstStyle/>
          <a:p>
            <a:pPr indent="0" lvl="0" marL="3657600" marR="0" rtl="0" algn="l">
              <a:spcBef>
                <a:spcPts val="0"/>
              </a:spcBef>
              <a:spcAft>
                <a:spcPts val="0"/>
              </a:spcAft>
              <a:buNone/>
            </a:pPr>
            <a:r>
              <a:rPr b="1" lang="en-US" sz="4600">
                <a:solidFill>
                  <a:srgbClr val="00B4D7"/>
                </a:solidFill>
                <a:latin typeface="Calibri"/>
                <a:ea typeface="Calibri"/>
                <a:cs typeface="Calibri"/>
                <a:sym typeface="Calibri"/>
              </a:rPr>
              <a:t>Въпроси?</a:t>
            </a:r>
            <a:endParaRPr sz="2600"/>
          </a:p>
        </p:txBody>
      </p:sp>
      <p:sp>
        <p:nvSpPr>
          <p:cNvPr id="288" name="Google Shape;288;p37"/>
          <p:cNvSpPr txBox="1"/>
          <p:nvPr/>
        </p:nvSpPr>
        <p:spPr>
          <a:xfrm>
            <a:off x="653825" y="3279929"/>
            <a:ext cx="10881300" cy="1277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t/>
            </a:r>
            <a:endParaRPr sz="2000">
              <a:solidFill>
                <a:srgbClr val="DCE1E6"/>
              </a:solidFill>
              <a:latin typeface="Calibri"/>
              <a:ea typeface="Calibri"/>
              <a:cs typeface="Calibri"/>
              <a:sym typeface="Calibri"/>
            </a:endParaRPr>
          </a:p>
          <a:p>
            <a:pPr indent="457200" lvl="0" marL="1371600" rtl="0" algn="l">
              <a:spcBef>
                <a:spcPts val="0"/>
              </a:spcBef>
              <a:spcAft>
                <a:spcPts val="0"/>
              </a:spcAft>
              <a:buNone/>
            </a:pPr>
            <a:r>
              <a:rPr lang="en-US" sz="4300">
                <a:solidFill>
                  <a:srgbClr val="DCE1E6"/>
                </a:solidFill>
                <a:latin typeface="Calibri"/>
                <a:ea typeface="Calibri"/>
                <a:cs typeface="Calibri"/>
                <a:sym typeface="Calibri"/>
              </a:rPr>
              <a:t>Благодаря за вниманието!</a:t>
            </a:r>
            <a:endParaRPr sz="4300">
              <a:solidFill>
                <a:srgbClr val="DCE1E6"/>
              </a:solidFill>
              <a:latin typeface="Calibri"/>
              <a:ea typeface="Calibri"/>
              <a:cs typeface="Calibri"/>
              <a:sym typeface="Calibri"/>
            </a:endParaRPr>
          </a:p>
          <a:p>
            <a:pPr indent="0" lvl="0" marL="0" marR="0" rtl="0" algn="l">
              <a:spcBef>
                <a:spcPts val="0"/>
              </a:spcBef>
              <a:spcAft>
                <a:spcPts val="0"/>
              </a:spcAft>
              <a:buNone/>
            </a:pPr>
            <a:r>
              <a:t/>
            </a:r>
            <a:endParaRPr>
              <a:solidFill>
                <a:srgbClr val="DCE1E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